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8" r:id="rId12"/>
    <p:sldId id="265" r:id="rId13"/>
    <p:sldId id="266" r:id="rId14"/>
    <p:sldId id="270" r:id="rId15"/>
  </p:sldIdLst>
  <p:sldSz cx="12192000" cy="6858000"/>
  <p:notesSz cx="6858000" cy="12192000"/>
  <p:embeddedFontLs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38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941F-1186-A107-56C0-85A91BB3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EADE6-41F8-E108-5F41-1744B1ADF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7F7D9-7E6E-E3C9-B98A-94EA4B7EA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7A0E3-E7B7-7FE1-61F6-3C984E3F4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5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BA873-A991-C193-8DBE-CF7CF419E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BF9E45-151A-13D6-3E44-001BD8C09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16E0A6-2281-838C-36ED-1CC0E68D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3B6E91-0970-B75D-4B21-40DBB545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6F1C3-28FA-6C07-FF5E-5B9474F0D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88911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E976F-7E69-C032-0C7E-8290D036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A1DE9F-5FBC-9C57-7448-DC0AA259D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00D4D5-3A08-88F9-5AEF-2C8C1F864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14F3A4-D815-3D36-52E1-CB413D5C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A5F82B-97C2-A3E7-285E-67092F84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29278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C81D4-7445-DBF0-F2E6-2E515259B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03C3D4-D7F8-74B3-D5BE-65EAEE425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312849-1F19-931D-DB3A-9F589A0D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5B0675-5F33-50D4-8E7E-D544EC84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E2D662-0C8B-EC6A-508B-D5B14C19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05943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7A38E-3890-A726-1C2D-AF946365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6549E-EF7F-B9C8-DC27-17825F35B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F3ECCC-D90A-3E86-8944-6F2608CD2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AAF4EE-1559-DE10-8CA4-3061CCF8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EDF68B-5C4C-BCB6-156E-B4E1D842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E72C67-5DE6-2172-1235-4EC0E3FD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35357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A67F3-0543-0A8A-B15B-11B5C499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828E38-DA42-66C7-ADFE-F91918C0D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C30DAD-F345-8576-48D3-6FBB93F47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65CE8A-85BC-6D45-FDA6-44BAE6E00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56BD0C-E9E0-CBA7-614F-E4BB6432C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7727C7-3669-B5E2-E3CB-F17CDA9F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26D109-137D-28F6-48B6-4A770757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CD7C1DB-2C69-AB7F-81EC-9D3CA7A17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2100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A3FE4-7628-3E4C-917F-D4EABDA2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A93A3-D903-7083-635C-4CD26422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B27914-B38B-D53D-FD3B-DF8C7CE3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696099-AF78-EE40-84A9-6854BF9C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90826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ADEAF8-0B3E-58B9-3AD7-0A8E01E9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555953-375F-6002-842C-961EB772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0A4EEF-1097-A770-EDA4-DF187E09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3162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362CC-0BDA-AA8D-3A8E-A366304C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B6EDB-2A0A-B0EC-1EB2-462E9C5CE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C8BE98-3D30-C4D6-7787-7EF8EC888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E0AA29-8FF7-8280-0F2E-874FF9D2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40BDE1-693B-A257-F537-6B7B3E47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A469DF-693A-1752-EEB6-67322668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67081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79453-5C2E-3331-E48B-E0627D0B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1321EFD-6892-378F-0237-A5F440F2A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26E9EB-C13E-9450-9C94-F84A16A05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679580-14AA-B83A-3B05-2ABBDFF0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D26D6-E055-DCEF-7F06-3187A066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8DE39C-CD62-5B6F-53AE-D8541B59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80711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59352-5EDF-FCCB-FEAA-4CBCE227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0D1D0C-26F9-4060-ECCD-ACF2E9FAD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390B6-357F-DD33-83FC-AA8826CC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5F19F-E454-6651-9742-BDD69BEC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3DA545-2EB9-95C1-020F-2DB78ECD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4255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65B49E-0F77-AF08-F5A7-E312837CB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1D34BC-AC34-90A3-0C9E-68361685D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9BF8DE-4E6D-8404-2BF7-C0FED750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FFC24E-1EAD-E48F-3F19-3520BD9C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3671D-FDCD-0108-758F-7ECCF14F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57500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263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F297C2-E4CB-7EFC-1C03-522EDCDA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0137E7-B388-01FA-72DF-7C5A6B7D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901171-E664-3E6E-BDC8-0006F76D0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3D8D0-01D0-47DF-8694-0852C4C7F1D8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0A5BAC-9D25-4F89-D497-597379B6C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EA767E-10C0-C13D-C292-9D5DFFB2C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332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262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47404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b="1" kern="0" spc="-13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Inteligente de Control de Acceso Vehicular y Peatonal para Condominios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661475" y="392182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Your Access, Protect Your Community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41374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61475" y="4660106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APT · Ingeniería en Informática · Duoc UC, Sede Plaza Norte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Integrantes: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César Escamilla · Ernesto Neculan · Carlos Ycochea</a:t>
            </a:r>
            <a:endParaRPr lang="en-US" sz="13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A703990-3415-0625-DBE1-E221BF1D3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710" y="0"/>
            <a:ext cx="2435290" cy="24352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76945"/>
            <a:ext cx="6296860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Problemática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1475" y="1089620"/>
            <a:ext cx="6296860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procesos tradicionales de control de acceso en condominios presentan múltiples debilidades que dificultan la gestión, el registro y la trazabilidad de los eventos de entrada y salida.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1475" y="1633835"/>
            <a:ext cx="6296860" cy="992088"/>
          </a:xfrm>
          <a:prstGeom prst="roundRect">
            <a:avLst>
              <a:gd name="adj" fmla="val 590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07323" y="1779687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Manual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7323" y="2068314"/>
            <a:ext cx="600516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 de registros en papel y comunicación informal entre residentes y personal de conserjería.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1475" y="2743597"/>
            <a:ext cx="6296860" cy="786209"/>
          </a:xfrm>
          <a:prstGeom prst="roundRect">
            <a:avLst>
              <a:gd name="adj" fmla="val 745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07323" y="2889448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Registros Dispersos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7323" y="3178076"/>
            <a:ext cx="600516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centralización de información sobre residentes, vehículos y eventos de acceso.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3647480"/>
            <a:ext cx="6296860" cy="786209"/>
          </a:xfrm>
          <a:prstGeom prst="roundRect">
            <a:avLst>
              <a:gd name="adj" fmla="val 745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807323" y="3793331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 Trazabilidad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7323" y="4081959"/>
            <a:ext cx="600516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Dificultad para verificar visitantes y consultar el historial de entradas y salidas.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1475" y="4551363"/>
            <a:ext cx="6296860" cy="992088"/>
          </a:xfrm>
          <a:prstGeom prst="roundRect">
            <a:avLst>
              <a:gd name="adj" fmla="val 590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807323" y="4697214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Falta de Integración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07323" y="4985841"/>
            <a:ext cx="600516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Ausencia de mecanismos digitales que conecten la gestión informática con los dispositivos físicos de apertura.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1475" y="5675908"/>
            <a:ext cx="6296860" cy="705048"/>
          </a:xfrm>
          <a:prstGeom prst="roundRect">
            <a:avLst>
              <a:gd name="adj" fmla="val 831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73" y="5845969"/>
            <a:ext cx="174422" cy="1395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14893" y="5828407"/>
            <a:ext cx="5703943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Desarrollar un prototipo que centralice, valide y registre procesos de acceso mediante tecnologías web, OCR de patentes y control con ESP32.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351271"/>
            <a:ext cx="1913774" cy="127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CAP?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674098"/>
            <a:ext cx="888374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es un prototipo de plataforma web que centraliza el control de accesos vehiculares y peatonales en condominios. Integra software, base de datos y hardware </a:t>
            </a:r>
            <a:b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(ESP32) en un flujo completo de autorización, validación y registro.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941487"/>
            <a:ext cx="165294" cy="165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158379"/>
            <a:ext cx="358845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Residentes y Viviendas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61475" y="1312366"/>
            <a:ext cx="31267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usuarios, viviendas asociadas y vehículos registrados.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1521" y="941487"/>
            <a:ext cx="165294" cy="165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01521" y="1158379"/>
            <a:ext cx="358855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Visitas y QR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301522" y="1312366"/>
            <a:ext cx="3274936" cy="129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Invitaciones digitales con QR de uso único y vigencia configurable.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1667" y="941487"/>
            <a:ext cx="165294" cy="1652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41667" y="1158379"/>
            <a:ext cx="358855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Reconocimiento</a:t>
            </a: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Patentes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7941667" y="1312366"/>
            <a:ext cx="3588553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de imagen y OCR para identificar vehículos registrados.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494135"/>
            <a:ext cx="165294" cy="1652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1711027"/>
            <a:ext cx="358845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61475" y="1865015"/>
            <a:ext cx="3360019" cy="9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Supervisión de accesos, eventos, rechazos y estadísticas en tiempo real.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3995" y="1483767"/>
            <a:ext cx="165294" cy="1652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3995" y="1711027"/>
            <a:ext cx="358855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 + Maqueta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4963995" y="1865015"/>
            <a:ext cx="327493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físico de apertura vehicular y peatonal mediante servomotores.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221" y="2010569"/>
            <a:ext cx="10779153" cy="464829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31583" y="577737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Enviar a ESP32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1431583" y="470137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Consultar BD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1431583" y="363623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Validar QR/Patente</a:t>
            </a:r>
            <a:endParaRPr lang="en-US" sz="1900" dirty="0"/>
          </a:p>
        </p:txBody>
      </p:sp>
      <p:sp>
        <p:nvSpPr>
          <p:cNvPr id="23" name="Text 15"/>
          <p:cNvSpPr/>
          <p:nvPr/>
        </p:nvSpPr>
        <p:spPr>
          <a:xfrm>
            <a:off x="1431583" y="256022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Invitación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705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Usuarios y Funcionalidades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951831"/>
            <a:ext cx="5470785" cy="3719016"/>
          </a:xfrm>
          <a:prstGeom prst="roundRect">
            <a:avLst>
              <a:gd name="adj" fmla="val 320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07710" y="211713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Residente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540893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Iniciar sesión y gestionar perfil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vehículos asociados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invitaciones con vigencia configurable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Generar y compartir códigos QR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Consultar historial de accesos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1171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Administrador / Guardia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540893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Gestionar residentes y viviendas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Visualizar accesos, rechazos y patentes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vehículos e invitaciones activas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Consultar evidencias fotográficas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Supervisar estadísticas y estado del ESP32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3904" y="4322663"/>
            <a:ext cx="5232666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303904" y="456902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Visitante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4992787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 indirecto. Presenta el QR proporcionado por el residente para acceder. No requiere cuenta propia.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de Invitaciones y Códigos QR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95933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057857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visita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435393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Residente registra la invitación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4726098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Generar QR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103634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crea un código único y con vigencia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021279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Presentar QR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398815"/>
            <a:ext cx="1902003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Visitante muestra el código al ingreso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4726098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103634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verifica vigencia y estado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98593" y="5358015"/>
            <a:ext cx="206063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2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del QR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8593" y="5622429"/>
            <a:ext cx="3210729" cy="439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9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Único:</a:t>
            </a: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Identificador asociado a una invitación específica</a:t>
            </a:r>
            <a:endParaRPr lang="en-US" sz="9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9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 solo uso:</a:t>
            </a: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invalida automáticamente tras ser utilizado</a:t>
            </a:r>
            <a:endParaRPr lang="en-US" sz="9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9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Vigencia configurable:</a:t>
            </a: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Fecha y hora de expiración definidas por el residente</a:t>
            </a:r>
            <a:endParaRPr lang="en-US" sz="9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9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Residente autorizante:</a:t>
            </a: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Vinculado al usuario que genera la invitación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03001" y="5774630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Estados de la Invitación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203001" y="5950248"/>
            <a:ext cx="5333569" cy="882452"/>
          </a:xfrm>
          <a:prstGeom prst="roundRect">
            <a:avLst>
              <a:gd name="adj" fmla="val 393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6209351" y="5956598"/>
            <a:ext cx="2660385" cy="434876"/>
          </a:xfrm>
          <a:custGeom>
            <a:avLst/>
            <a:gdLst/>
            <a:ahLst/>
            <a:cxnLst/>
            <a:rect l="l" t="t" r="r" b="b"/>
            <a:pathLst>
              <a:path w="2660385" h="434876">
                <a:moveTo>
                  <a:pt x="28943" y="0"/>
                </a:moveTo>
                <a:lnTo>
                  <a:pt x="2660385" y="0"/>
                </a:lnTo>
                <a:lnTo>
                  <a:pt x="2660385" y="434876"/>
                </a:lnTo>
                <a:lnTo>
                  <a:pt x="0" y="434876"/>
                </a:lnTo>
                <a:lnTo>
                  <a:pt x="0" y="28944"/>
                </a:lnTo>
                <a:arcTo wR="28943" hR="28944" stAng="10800000" swAng="5400000"/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6291998" y="6039247"/>
            <a:ext cx="249509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Pendiente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91998" y="6209705"/>
            <a:ext cx="249509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Disponible para usar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8869736" y="5956598"/>
            <a:ext cx="2660484" cy="434876"/>
          </a:xfrm>
          <a:custGeom>
            <a:avLst/>
            <a:gdLst/>
            <a:ahLst/>
            <a:cxnLst/>
            <a:rect l="l" t="t" r="r" b="b"/>
            <a:pathLst>
              <a:path w="2660484" h="434876">
                <a:moveTo>
                  <a:pt x="0" y="0"/>
                </a:moveTo>
                <a:lnTo>
                  <a:pt x="2631541" y="0"/>
                </a:lnTo>
                <a:arcTo wR="28943" hR="28944" stAng="16200000" swAng="5400000"/>
                <a:lnTo>
                  <a:pt x="2660484" y="434876"/>
                </a:lnTo>
                <a:lnTo>
                  <a:pt x="0" y="434876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8869736" y="5956598"/>
            <a:ext cx="12700" cy="434876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8952383" y="6039247"/>
            <a:ext cx="24951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Utilizada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952383" y="6209705"/>
            <a:ext cx="249519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ya consumido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6209351" y="6391473"/>
            <a:ext cx="2660385" cy="434876"/>
          </a:xfrm>
          <a:custGeom>
            <a:avLst/>
            <a:gdLst/>
            <a:ahLst/>
            <a:cxnLst/>
            <a:rect l="l" t="t" r="r" b="b"/>
            <a:pathLst>
              <a:path w="2660385" h="434876">
                <a:moveTo>
                  <a:pt x="0" y="0"/>
                </a:moveTo>
                <a:lnTo>
                  <a:pt x="2660385" y="0"/>
                </a:lnTo>
                <a:lnTo>
                  <a:pt x="2660385" y="434876"/>
                </a:lnTo>
                <a:lnTo>
                  <a:pt x="28943" y="434876"/>
                </a:lnTo>
                <a:arcTo wR="28943" hR="28944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6209351" y="6391473"/>
            <a:ext cx="2660385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291998" y="6474123"/>
            <a:ext cx="249509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Expirada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91998" y="6644580"/>
            <a:ext cx="249509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Superó vigencia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8869736" y="6391473"/>
            <a:ext cx="2660484" cy="434876"/>
          </a:xfrm>
          <a:custGeom>
            <a:avLst/>
            <a:gdLst/>
            <a:ahLst/>
            <a:cxnLst/>
            <a:rect l="l" t="t" r="r" b="b"/>
            <a:pathLst>
              <a:path w="2660484" h="434876">
                <a:moveTo>
                  <a:pt x="0" y="0"/>
                </a:moveTo>
                <a:lnTo>
                  <a:pt x="2660484" y="0"/>
                </a:lnTo>
                <a:lnTo>
                  <a:pt x="2660484" y="405932"/>
                </a:lnTo>
                <a:arcTo wR="28943" hR="28944" stAng="0" swAng="5400000"/>
                <a:lnTo>
                  <a:pt x="0" y="434876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5"/>
          <p:cNvSpPr/>
          <p:nvPr/>
        </p:nvSpPr>
        <p:spPr>
          <a:xfrm>
            <a:off x="8869736" y="6391473"/>
            <a:ext cx="12700" cy="434876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8869736" y="6391473"/>
            <a:ext cx="2660484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8952383" y="6474123"/>
            <a:ext cx="24951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Cancelada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952383" y="6644580"/>
            <a:ext cx="249519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Anulada por residente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203001" y="6879134"/>
            <a:ext cx="59431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QR </a:t>
            </a:r>
            <a:r>
              <a:rPr lang="en-US" sz="65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utilizado, expirado o cancelado</a:t>
            </a: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volverá a permitir acceso bajo ninguna circunstancia.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1572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de Acceso Vehicular por Patente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33475"/>
            <a:ext cx="1086874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de las funcionalidades diferenciadoras de CAP: el encargado captura la patente del vehículo mediante la cámara del teléfono y el sistema la procesa automáticamente para validar el acceso.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30363"/>
            <a:ext cx="658895" cy="7907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5341" y="1762125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Captura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425341" y="2031008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encargado fotografía la patente con el teléfono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421136"/>
            <a:ext cx="658895" cy="7907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5341" y="2552898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425341" y="2821781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Reconocimiento de caracteres y obtención de la patente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211909"/>
            <a:ext cx="658895" cy="7907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25341" y="3343672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 BD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425341" y="3612555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verifica si la patente está registrada y se obtiene marca, modelo y residente asociado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002683"/>
            <a:ext cx="658895" cy="7907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5341" y="4134445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425341" y="4403328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backend determina si autoriza el acceso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793456"/>
            <a:ext cx="658895" cy="7907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25341" y="4925219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Registro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1425341" y="5194102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almacena el evento con evidencia fotográfica en el dashboard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61475" y="5702300"/>
            <a:ext cx="10868745" cy="644128"/>
          </a:xfrm>
          <a:prstGeom prst="roundRect">
            <a:avLst>
              <a:gd name="adj" fmla="val 85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234" y="5851922"/>
            <a:ext cx="164699" cy="13176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89692" y="5840214"/>
            <a:ext cx="10308769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0" spc="-2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Mecanismo alternativo:</a:t>
            </a:r>
            <a:r>
              <a:rPr lang="en-US" sz="100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el reconocimiento OCR no es satisfactorio por condiciones de iluminación, ángulo o calidad de imagen, el visitante puede presentar su código QR para validar el acceso.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2345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kern="0" spc="-72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Controlador</a:t>
            </a:r>
            <a:r>
              <a:rPr lang="en-US" sz="2350" b="1" kern="0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ESP32 + Maqueta Física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574065" y="1015603"/>
            <a:ext cx="5461062" cy="5340052"/>
          </a:xfrm>
          <a:prstGeom prst="roundRect">
            <a:avLst>
              <a:gd name="adj" fmla="val 163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95506" y="1104801"/>
            <a:ext cx="521818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Concepto Clave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95506" y="1383705"/>
            <a:ext cx="5218180" cy="58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950" b="1" kern="0" spc="-1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backend decide y el ESP32 ejecuta.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lógica de autorización reside completamente en el backend. El ESP32 actúa únicamente como controlador físico, recibiendo instrucciones y activando los mecanismos de apertura.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95506" y="2100064"/>
            <a:ext cx="5218180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95506" y="2243435"/>
            <a:ext cx="521818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Componentes Físicos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5506" y="2522339"/>
            <a:ext cx="5218180" cy="966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(controlador principal)</a:t>
            </a:r>
            <a:endParaRPr lang="en-US" sz="11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Servomotor de acceso vehicular</a:t>
            </a:r>
            <a:endParaRPr lang="en-US" sz="11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Servomotor de acceso peatonal</a:t>
            </a:r>
            <a:endParaRPr lang="en-US" sz="11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Botones físicos de salida</a:t>
            </a:r>
            <a:endParaRPr lang="en-US" sz="11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Protoboard y componentes básicos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50327" y="1104801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Flujo de Entrada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50327" y="1394817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50327" y="1588492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250327" y="1674614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valida QR o patente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0327" y="2023368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0327" y="2217043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250327" y="2303165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envía orden al ESP32 por 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0327" y="2651919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50327" y="2845594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250327" y="2931716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activa el servomotor correspondiente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0327" y="3280470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50327" y="3474145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250327" y="3560266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registra el evento en el dashboard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50327" y="3920133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Flujo de Salida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50327" y="4210149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0327" y="4403824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250327" y="4489946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presiona el botón físico de salida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0327" y="4838700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0327" y="5032375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250327" y="5118497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detecta la acción y activa el servo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0327" y="5467251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0327" y="5660926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250327" y="5747048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registra el evento de salida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50327" y="6106914"/>
            <a:ext cx="589582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salida es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bloqueada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no depende de una invitación vigente.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32520"/>
            <a:ext cx="6296860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y Trazabilidad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365945"/>
            <a:ext cx="6296860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no es solo abrir una barrera: es una plataforma completa para administrar, supervisar y auditar todos los eventos de acceso de la comunidad residencial.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233360" y="2045097"/>
            <a:ext cx="6296860" cy="928687"/>
          </a:xfrm>
          <a:prstGeom prst="roundRect">
            <a:avLst>
              <a:gd name="adj" fmla="val 72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399845" y="2211586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Accesos Totales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399845" y="2554982"/>
            <a:ext cx="59638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Entradas, salidas y rechazos acumulados con filtros por fecha y tipo de evento.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33360" y="3128963"/>
            <a:ext cx="6296860" cy="928687"/>
          </a:xfrm>
          <a:prstGeom prst="roundRect">
            <a:avLst>
              <a:gd name="adj" fmla="val 72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399845" y="3295452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Invitaciones Activas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399845" y="3638848"/>
            <a:ext cx="59638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de todas las invitaciones vigentes, utilizadas, expiradas o canceladas.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4212828"/>
            <a:ext cx="6296860" cy="928687"/>
          </a:xfrm>
          <a:prstGeom prst="roundRect">
            <a:avLst>
              <a:gd name="adj" fmla="val 72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399845" y="4379317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Patentes y Vehículos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399845" y="4722713"/>
            <a:ext cx="59638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Patente detectada, marca, modelo, residente asociado y fecha/hora del evento.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3360" y="5296694"/>
            <a:ext cx="6296860" cy="928687"/>
          </a:xfrm>
          <a:prstGeom prst="roundRect">
            <a:avLst>
              <a:gd name="adj" fmla="val 72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5399845" y="5463183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Evidencia y Estado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399845" y="5806579"/>
            <a:ext cx="59638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fotográfica asociada a eventos y estado en línea del dispositivo ESP32.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467F378D-A000-47AE-83B2-D9954D8C9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8E26863-5660-4928-984A-CA2CFC8F6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647" y="746626"/>
            <a:ext cx="3508037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Rectangle 6">
            <a:extLst>
              <a:ext uri="{FF2B5EF4-FFF2-40B4-BE49-F238E27FC236}">
                <a16:creationId xmlns:a16="http://schemas.microsoft.com/office/drawing/2014/main" id="{D7538F2A-6532-4E38-8354-21841BB0B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10065" y="580586"/>
            <a:ext cx="1027015" cy="258262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2F31131-35FC-4834-8E62-1D9DA3BE2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4148" y="746626"/>
            <a:ext cx="3508037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7AD7F70-85A5-463C-9B1F-3182B60F8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2570" y="746626"/>
            <a:ext cx="3511296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E5F002A4-1B0E-473E-AD7B-8346FB83B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22924" y="2300232"/>
            <a:ext cx="1027015" cy="258262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62" name="Freeform: Shape 61">
            <a:extLst>
              <a:ext uri="{FF2B5EF4-FFF2-40B4-BE49-F238E27FC236}">
                <a16:creationId xmlns:a16="http://schemas.microsoft.com/office/drawing/2014/main" id="{13AF7514-9DD7-4ADB-84DF-5D8B61E73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919" y="4298302"/>
            <a:ext cx="12192000" cy="2559698"/>
          </a:xfrm>
          <a:custGeom>
            <a:avLst/>
            <a:gdLst>
              <a:gd name="connsiteX0" fmla="*/ 1462415 w 12192000"/>
              <a:gd name="connsiteY0" fmla="*/ 0 h 2685062"/>
              <a:gd name="connsiteX1" fmla="*/ 1494432 w 12192000"/>
              <a:gd name="connsiteY1" fmla="*/ 2457 h 2685062"/>
              <a:gd name="connsiteX2" fmla="*/ 1523667 w 12192000"/>
              <a:gd name="connsiteY2" fmla="*/ 11778 h 2685062"/>
              <a:gd name="connsiteX3" fmla="*/ 1523067 w 12192000"/>
              <a:gd name="connsiteY3" fmla="*/ 14207 h 2685062"/>
              <a:gd name="connsiteX4" fmla="*/ 1527695 w 12192000"/>
              <a:gd name="connsiteY4" fmla="*/ 15715 h 2685062"/>
              <a:gd name="connsiteX5" fmla="*/ 1532258 w 12192000"/>
              <a:gd name="connsiteY5" fmla="*/ 14518 h 2685062"/>
              <a:gd name="connsiteX6" fmla="*/ 1537796 w 12192000"/>
              <a:gd name="connsiteY6" fmla="*/ 16283 h 2685062"/>
              <a:gd name="connsiteX7" fmla="*/ 1553041 w 12192000"/>
              <a:gd name="connsiteY7" fmla="*/ 20452 h 2685062"/>
              <a:gd name="connsiteX8" fmla="*/ 1557495 w 12192000"/>
              <a:gd name="connsiteY8" fmla="*/ 25861 h 2685062"/>
              <a:gd name="connsiteX9" fmla="*/ 1617448 w 12192000"/>
              <a:gd name="connsiteY9" fmla="*/ 40977 h 2685062"/>
              <a:gd name="connsiteX10" fmla="*/ 1636697 w 12192000"/>
              <a:gd name="connsiteY10" fmla="*/ 39108 h 2685062"/>
              <a:gd name="connsiteX11" fmla="*/ 1657286 w 12192000"/>
              <a:gd name="connsiteY11" fmla="*/ 49000 h 2685062"/>
              <a:gd name="connsiteX12" fmla="*/ 1719191 w 12192000"/>
              <a:gd name="connsiteY12" fmla="*/ 56920 h 2685062"/>
              <a:gd name="connsiteX13" fmla="*/ 1787126 w 12192000"/>
              <a:gd name="connsiteY13" fmla="*/ 71960 h 2685062"/>
              <a:gd name="connsiteX14" fmla="*/ 1834555 w 12192000"/>
              <a:gd name="connsiteY14" fmla="*/ 86590 h 2685062"/>
              <a:gd name="connsiteX15" fmla="*/ 1966070 w 12192000"/>
              <a:gd name="connsiteY15" fmla="*/ 103987 h 2685062"/>
              <a:gd name="connsiteX16" fmla="*/ 2188582 w 12192000"/>
              <a:gd name="connsiteY16" fmla="*/ 124532 h 2685062"/>
              <a:gd name="connsiteX17" fmla="*/ 2234811 w 12192000"/>
              <a:gd name="connsiteY17" fmla="*/ 130739 h 2685062"/>
              <a:gd name="connsiteX18" fmla="*/ 2270005 w 12192000"/>
              <a:gd name="connsiteY18" fmla="*/ 143358 h 2685062"/>
              <a:gd name="connsiteX19" fmla="*/ 2274208 w 12192000"/>
              <a:gd name="connsiteY19" fmla="*/ 152634 h 2685062"/>
              <a:gd name="connsiteX20" fmla="*/ 2298905 w 12192000"/>
              <a:gd name="connsiteY20" fmla="*/ 157215 h 2685062"/>
              <a:gd name="connsiteX21" fmla="*/ 2304521 w 12192000"/>
              <a:gd name="connsiteY21" fmla="*/ 159957 h 2685062"/>
              <a:gd name="connsiteX22" fmla="*/ 2337696 w 12192000"/>
              <a:gd name="connsiteY22" fmla="*/ 174150 h 2685062"/>
              <a:gd name="connsiteX23" fmla="*/ 2432112 w 12192000"/>
              <a:gd name="connsiteY23" fmla="*/ 166646 h 2685062"/>
              <a:gd name="connsiteX24" fmla="*/ 2500149 w 12192000"/>
              <a:gd name="connsiteY24" fmla="*/ 168723 h 2685062"/>
              <a:gd name="connsiteX25" fmla="*/ 2504776 w 12192000"/>
              <a:gd name="connsiteY25" fmla="*/ 171455 h 2685062"/>
              <a:gd name="connsiteX26" fmla="*/ 2507358 w 12192000"/>
              <a:gd name="connsiteY26" fmla="*/ 177677 h 2685062"/>
              <a:gd name="connsiteX27" fmla="*/ 2518847 w 12192000"/>
              <a:gd name="connsiteY27" fmla="*/ 180936 h 2685062"/>
              <a:gd name="connsiteX28" fmla="*/ 2528864 w 12192000"/>
              <a:gd name="connsiteY28" fmla="*/ 188517 h 2685062"/>
              <a:gd name="connsiteX29" fmla="*/ 2938613 w 12192000"/>
              <a:gd name="connsiteY29" fmla="*/ 248764 h 2685062"/>
              <a:gd name="connsiteX30" fmla="*/ 3132513 w 12192000"/>
              <a:gd name="connsiteY30" fmla="*/ 229282 h 2685062"/>
              <a:gd name="connsiteX31" fmla="*/ 3208657 w 12192000"/>
              <a:gd name="connsiteY31" fmla="*/ 230814 h 2685062"/>
              <a:gd name="connsiteX32" fmla="*/ 3217904 w 12192000"/>
              <a:gd name="connsiteY32" fmla="*/ 237375 h 2685062"/>
              <a:gd name="connsiteX33" fmla="*/ 3330150 w 12192000"/>
              <a:gd name="connsiteY33" fmla="*/ 214762 h 2685062"/>
              <a:gd name="connsiteX34" fmla="*/ 3480527 w 12192000"/>
              <a:gd name="connsiteY34" fmla="*/ 231960 h 2685062"/>
              <a:gd name="connsiteX35" fmla="*/ 3591806 w 12192000"/>
              <a:gd name="connsiteY35" fmla="*/ 253003 h 2685062"/>
              <a:gd name="connsiteX36" fmla="*/ 3655143 w 12192000"/>
              <a:gd name="connsiteY36" fmla="*/ 261318 h 2685062"/>
              <a:gd name="connsiteX37" fmla="*/ 3700191 w 12192000"/>
              <a:gd name="connsiteY37" fmla="*/ 271235 h 2685062"/>
              <a:gd name="connsiteX38" fmla="*/ 3820459 w 12192000"/>
              <a:gd name="connsiteY38" fmla="*/ 275675 h 2685062"/>
              <a:gd name="connsiteX39" fmla="*/ 4022158 w 12192000"/>
              <a:gd name="connsiteY39" fmla="*/ 274341 h 2685062"/>
              <a:gd name="connsiteX40" fmla="*/ 4164508 w 12192000"/>
              <a:gd name="connsiteY40" fmla="*/ 309117 h 2685062"/>
              <a:gd name="connsiteX41" fmla="*/ 4246843 w 12192000"/>
              <a:gd name="connsiteY41" fmla="*/ 292417 h 2685062"/>
              <a:gd name="connsiteX42" fmla="*/ 4337133 w 12192000"/>
              <a:gd name="connsiteY42" fmla="*/ 304707 h 2685062"/>
              <a:gd name="connsiteX43" fmla="*/ 4696109 w 12192000"/>
              <a:gd name="connsiteY43" fmla="*/ 300060 h 2685062"/>
              <a:gd name="connsiteX44" fmla="*/ 4928090 w 12192000"/>
              <a:gd name="connsiteY44" fmla="*/ 291457 h 2685062"/>
              <a:gd name="connsiteX45" fmla="*/ 4960316 w 12192000"/>
              <a:gd name="connsiteY45" fmla="*/ 287841 h 2685062"/>
              <a:gd name="connsiteX46" fmla="*/ 4960840 w 12192000"/>
              <a:gd name="connsiteY46" fmla="*/ 285406 h 2685062"/>
              <a:gd name="connsiteX47" fmla="*/ 4965958 w 12192000"/>
              <a:gd name="connsiteY47" fmla="*/ 284802 h 2685062"/>
              <a:gd name="connsiteX48" fmla="*/ 4969785 w 12192000"/>
              <a:gd name="connsiteY48" fmla="*/ 286778 h 2685062"/>
              <a:gd name="connsiteX49" fmla="*/ 4975889 w 12192000"/>
              <a:gd name="connsiteY49" fmla="*/ 286093 h 2685062"/>
              <a:gd name="connsiteX50" fmla="*/ 4992382 w 12192000"/>
              <a:gd name="connsiteY50" fmla="*/ 284871 h 2685062"/>
              <a:gd name="connsiteX51" fmla="*/ 4999094 w 12192000"/>
              <a:gd name="connsiteY51" fmla="*/ 280499 h 2685062"/>
              <a:gd name="connsiteX52" fmla="*/ 5080965 w 12192000"/>
              <a:gd name="connsiteY52" fmla="*/ 282208 h 2685062"/>
              <a:gd name="connsiteX53" fmla="*/ 5105166 w 12192000"/>
              <a:gd name="connsiteY53" fmla="*/ 276473 h 2685062"/>
              <a:gd name="connsiteX54" fmla="*/ 5168054 w 12192000"/>
              <a:gd name="connsiteY54" fmla="*/ 280137 h 2685062"/>
              <a:gd name="connsiteX55" fmla="*/ 5239940 w 12192000"/>
              <a:gd name="connsiteY55" fmla="*/ 278079 h 2685062"/>
              <a:gd name="connsiteX56" fmla="*/ 5291998 w 12192000"/>
              <a:gd name="connsiteY56" fmla="*/ 272685 h 2685062"/>
              <a:gd name="connsiteX57" fmla="*/ 5425861 w 12192000"/>
              <a:gd name="connsiteY57" fmla="*/ 279926 h 2685062"/>
              <a:gd name="connsiteX58" fmla="*/ 5648321 w 12192000"/>
              <a:gd name="connsiteY58" fmla="*/ 300693 h 2685062"/>
              <a:gd name="connsiteX59" fmla="*/ 5695414 w 12192000"/>
              <a:gd name="connsiteY59" fmla="*/ 303150 h 2685062"/>
              <a:gd name="connsiteX60" fmla="*/ 5743064 w 12192000"/>
              <a:gd name="connsiteY60" fmla="*/ 289335 h 2685062"/>
              <a:gd name="connsiteX61" fmla="*/ 5768797 w 12192000"/>
              <a:gd name="connsiteY61" fmla="*/ 289436 h 2685062"/>
              <a:gd name="connsiteX62" fmla="*/ 5775419 w 12192000"/>
              <a:gd name="connsiteY62" fmla="*/ 287831 h 2685062"/>
              <a:gd name="connsiteX63" fmla="*/ 5813624 w 12192000"/>
              <a:gd name="connsiteY63" fmla="*/ 280263 h 2685062"/>
              <a:gd name="connsiteX64" fmla="*/ 5900676 w 12192000"/>
              <a:gd name="connsiteY64" fmla="*/ 304615 h 2685062"/>
              <a:gd name="connsiteX65" fmla="*/ 5966795 w 12192000"/>
              <a:gd name="connsiteY65" fmla="*/ 314993 h 2685062"/>
              <a:gd name="connsiteX66" fmla="*/ 5972463 w 12192000"/>
              <a:gd name="connsiteY66" fmla="*/ 313217 h 2685062"/>
              <a:gd name="connsiteX67" fmla="*/ 5977754 w 12192000"/>
              <a:gd name="connsiteY67" fmla="*/ 307726 h 2685062"/>
              <a:gd name="connsiteX68" fmla="*/ 5990232 w 12192000"/>
              <a:gd name="connsiteY68" fmla="*/ 306694 h 2685062"/>
              <a:gd name="connsiteX69" fmla="*/ 6003260 w 12192000"/>
              <a:gd name="connsiteY69" fmla="*/ 301250 h 2685062"/>
              <a:gd name="connsiteX70" fmla="*/ 6398655 w 12192000"/>
              <a:gd name="connsiteY70" fmla="*/ 340447 h 2685062"/>
              <a:gd name="connsiteX71" fmla="*/ 6477250 w 12192000"/>
              <a:gd name="connsiteY71" fmla="*/ 370643 h 2685062"/>
              <a:gd name="connsiteX72" fmla="*/ 6599996 w 12192000"/>
              <a:gd name="connsiteY72" fmla="*/ 371929 h 2685062"/>
              <a:gd name="connsiteX73" fmla="*/ 6673632 w 12192000"/>
              <a:gd name="connsiteY73" fmla="*/ 384303 h 2685062"/>
              <a:gd name="connsiteX74" fmla="*/ 6685461 w 12192000"/>
              <a:gd name="connsiteY74" fmla="*/ 379698 h 2685062"/>
              <a:gd name="connsiteX75" fmla="*/ 6782761 w 12192000"/>
              <a:gd name="connsiteY75" fmla="*/ 421766 h 2685062"/>
              <a:gd name="connsiteX76" fmla="*/ 6934599 w 12192000"/>
              <a:gd name="connsiteY76" fmla="*/ 432626 h 2685062"/>
              <a:gd name="connsiteX77" fmla="*/ 7050728 w 12192000"/>
              <a:gd name="connsiteY77" fmla="*/ 432695 h 2685062"/>
              <a:gd name="connsiteX78" fmla="*/ 7115167 w 12192000"/>
              <a:gd name="connsiteY78" fmla="*/ 436243 h 2685062"/>
              <a:gd name="connsiteX79" fmla="*/ 7162809 w 12192000"/>
              <a:gd name="connsiteY79" fmla="*/ 434931 h 2685062"/>
              <a:gd name="connsiteX80" fmla="*/ 7280034 w 12192000"/>
              <a:gd name="connsiteY80" fmla="*/ 452539 h 2685062"/>
              <a:gd name="connsiteX81" fmla="*/ 7472654 w 12192000"/>
              <a:gd name="connsiteY81" fmla="*/ 490482 h 2685062"/>
              <a:gd name="connsiteX82" fmla="*/ 7696080 w 12192000"/>
              <a:gd name="connsiteY82" fmla="*/ 514010 h 2685062"/>
              <a:gd name="connsiteX83" fmla="*/ 7788139 w 12192000"/>
              <a:gd name="connsiteY83" fmla="*/ 518649 h 2685062"/>
              <a:gd name="connsiteX84" fmla="*/ 8227756 w 12192000"/>
              <a:gd name="connsiteY84" fmla="*/ 558548 h 2685062"/>
              <a:gd name="connsiteX85" fmla="*/ 8328859 w 12192000"/>
              <a:gd name="connsiteY85" fmla="*/ 582867 h 2685062"/>
              <a:gd name="connsiteX86" fmla="*/ 8532898 w 12192000"/>
              <a:gd name="connsiteY86" fmla="*/ 668282 h 2685062"/>
              <a:gd name="connsiteX87" fmla="*/ 8792925 w 12192000"/>
              <a:gd name="connsiteY87" fmla="*/ 701900 h 2685062"/>
              <a:gd name="connsiteX88" fmla="*/ 8809491 w 12192000"/>
              <a:gd name="connsiteY88" fmla="*/ 717262 h 2685062"/>
              <a:gd name="connsiteX89" fmla="*/ 8814066 w 12192000"/>
              <a:gd name="connsiteY89" fmla="*/ 719410 h 2685062"/>
              <a:gd name="connsiteX90" fmla="*/ 8815751 w 12192000"/>
              <a:gd name="connsiteY90" fmla="*/ 718686 h 2685062"/>
              <a:gd name="connsiteX91" fmla="*/ 8840540 w 12192000"/>
              <a:gd name="connsiteY91" fmla="*/ 717083 h 2685062"/>
              <a:gd name="connsiteX92" fmla="*/ 8897062 w 12192000"/>
              <a:gd name="connsiteY92" fmla="*/ 697553 h 2685062"/>
              <a:gd name="connsiteX93" fmla="*/ 8965922 w 12192000"/>
              <a:gd name="connsiteY93" fmla="*/ 672885 h 2685062"/>
              <a:gd name="connsiteX94" fmla="*/ 9016694 w 12192000"/>
              <a:gd name="connsiteY94" fmla="*/ 669496 h 2685062"/>
              <a:gd name="connsiteX95" fmla="*/ 9139695 w 12192000"/>
              <a:gd name="connsiteY95" fmla="*/ 648174 h 2685062"/>
              <a:gd name="connsiteX96" fmla="*/ 9219129 w 12192000"/>
              <a:gd name="connsiteY96" fmla="*/ 639013 h 2685062"/>
              <a:gd name="connsiteX97" fmla="*/ 9221354 w 12192000"/>
              <a:gd name="connsiteY97" fmla="*/ 638501 h 2685062"/>
              <a:gd name="connsiteX98" fmla="*/ 9237592 w 12192000"/>
              <a:gd name="connsiteY98" fmla="*/ 642494 h 2685062"/>
              <a:gd name="connsiteX99" fmla="*/ 9236570 w 12192000"/>
              <a:gd name="connsiteY99" fmla="*/ 648762 h 2685062"/>
              <a:gd name="connsiteX100" fmla="*/ 9250521 w 12192000"/>
              <a:gd name="connsiteY100" fmla="*/ 654041 h 2685062"/>
              <a:gd name="connsiteX101" fmla="*/ 9279357 w 12192000"/>
              <a:gd name="connsiteY101" fmla="*/ 653083 h 2685062"/>
              <a:gd name="connsiteX102" fmla="*/ 9289731 w 12192000"/>
              <a:gd name="connsiteY102" fmla="*/ 656356 h 2685062"/>
              <a:gd name="connsiteX103" fmla="*/ 9293723 w 12192000"/>
              <a:gd name="connsiteY103" fmla="*/ 656237 h 2685062"/>
              <a:gd name="connsiteX104" fmla="*/ 9303097 w 12192000"/>
              <a:gd name="connsiteY104" fmla="*/ 656723 h 2685062"/>
              <a:gd name="connsiteX105" fmla="*/ 9302251 w 12192000"/>
              <a:gd name="connsiteY105" fmla="*/ 652725 h 2685062"/>
              <a:gd name="connsiteX106" fmla="*/ 9314122 w 12192000"/>
              <a:gd name="connsiteY106" fmla="*/ 645860 h 2685062"/>
              <a:gd name="connsiteX107" fmla="*/ 9367772 w 12192000"/>
              <a:gd name="connsiteY107" fmla="*/ 650683 h 2685062"/>
              <a:gd name="connsiteX108" fmla="*/ 9370291 w 12192000"/>
              <a:gd name="connsiteY108" fmla="*/ 655264 h 2685062"/>
              <a:gd name="connsiteX109" fmla="*/ 9377007 w 12192000"/>
              <a:gd name="connsiteY109" fmla="*/ 656308 h 2685062"/>
              <a:gd name="connsiteX110" fmla="*/ 9382497 w 12192000"/>
              <a:gd name="connsiteY110" fmla="*/ 652427 h 2685062"/>
              <a:gd name="connsiteX111" fmla="*/ 9474013 w 12192000"/>
              <a:gd name="connsiteY111" fmla="*/ 647005 h 2685062"/>
              <a:gd name="connsiteX112" fmla="*/ 9595899 w 12192000"/>
              <a:gd name="connsiteY112" fmla="*/ 646979 h 2685062"/>
              <a:gd name="connsiteX113" fmla="*/ 9681269 w 12192000"/>
              <a:gd name="connsiteY113" fmla="*/ 669984 h 2685062"/>
              <a:gd name="connsiteX114" fmla="*/ 9689635 w 12192000"/>
              <a:gd name="connsiteY114" fmla="*/ 666408 h 2685062"/>
              <a:gd name="connsiteX115" fmla="*/ 9750215 w 12192000"/>
              <a:gd name="connsiteY115" fmla="*/ 671056 h 2685062"/>
              <a:gd name="connsiteX116" fmla="*/ 9957974 w 12192000"/>
              <a:gd name="connsiteY116" fmla="*/ 715080 h 2685062"/>
              <a:gd name="connsiteX117" fmla="*/ 10076482 w 12192000"/>
              <a:gd name="connsiteY117" fmla="*/ 723397 h 2685062"/>
              <a:gd name="connsiteX118" fmla="*/ 10119263 w 12192000"/>
              <a:gd name="connsiteY118" fmla="*/ 721877 h 2685062"/>
              <a:gd name="connsiteX119" fmla="*/ 10190893 w 12192000"/>
              <a:gd name="connsiteY119" fmla="*/ 719606 h 2685062"/>
              <a:gd name="connsiteX120" fmla="*/ 10246203 w 12192000"/>
              <a:gd name="connsiteY120" fmla="*/ 706893 h 2685062"/>
              <a:gd name="connsiteX121" fmla="*/ 10305396 w 12192000"/>
              <a:gd name="connsiteY121" fmla="*/ 709359 h 2685062"/>
              <a:gd name="connsiteX122" fmla="*/ 10316856 w 12192000"/>
              <a:gd name="connsiteY122" fmla="*/ 724179 h 2685062"/>
              <a:gd name="connsiteX123" fmla="*/ 10380919 w 12192000"/>
              <a:gd name="connsiteY123" fmla="*/ 722193 h 2685062"/>
              <a:gd name="connsiteX124" fmla="*/ 10478351 w 12192000"/>
              <a:gd name="connsiteY124" fmla="*/ 717620 h 2685062"/>
              <a:gd name="connsiteX125" fmla="*/ 10533954 w 12192000"/>
              <a:gd name="connsiteY125" fmla="*/ 718660 h 2685062"/>
              <a:gd name="connsiteX126" fmla="*/ 10686474 w 12192000"/>
              <a:gd name="connsiteY126" fmla="*/ 717507 h 2685062"/>
              <a:gd name="connsiteX127" fmla="*/ 10839729 w 12192000"/>
              <a:gd name="connsiteY127" fmla="*/ 713306 h 2685062"/>
              <a:gd name="connsiteX128" fmla="*/ 10933271 w 12192000"/>
              <a:gd name="connsiteY128" fmla="*/ 693628 h 2685062"/>
              <a:gd name="connsiteX129" fmla="*/ 11058950 w 12192000"/>
              <a:gd name="connsiteY129" fmla="*/ 692031 h 2685062"/>
              <a:gd name="connsiteX130" fmla="*/ 11080388 w 12192000"/>
              <a:gd name="connsiteY130" fmla="*/ 689245 h 2685062"/>
              <a:gd name="connsiteX131" fmla="*/ 11108911 w 12192000"/>
              <a:gd name="connsiteY131" fmla="*/ 693363 h 2685062"/>
              <a:gd name="connsiteX132" fmla="*/ 11223119 w 12192000"/>
              <a:gd name="connsiteY132" fmla="*/ 710661 h 2685062"/>
              <a:gd name="connsiteX133" fmla="*/ 11311983 w 12192000"/>
              <a:gd name="connsiteY133" fmla="*/ 731410 h 2685062"/>
              <a:gd name="connsiteX134" fmla="*/ 11426940 w 12192000"/>
              <a:gd name="connsiteY134" fmla="*/ 727340 h 2685062"/>
              <a:gd name="connsiteX135" fmla="*/ 11495624 w 12192000"/>
              <a:gd name="connsiteY135" fmla="*/ 734858 h 2685062"/>
              <a:gd name="connsiteX136" fmla="*/ 11605975 w 12192000"/>
              <a:gd name="connsiteY136" fmla="*/ 762433 h 2685062"/>
              <a:gd name="connsiteX137" fmla="*/ 11756134 w 12192000"/>
              <a:gd name="connsiteY137" fmla="*/ 765012 h 2685062"/>
              <a:gd name="connsiteX138" fmla="*/ 11789788 w 12192000"/>
              <a:gd name="connsiteY138" fmla="*/ 745316 h 2685062"/>
              <a:gd name="connsiteX139" fmla="*/ 11832833 w 12192000"/>
              <a:gd name="connsiteY139" fmla="*/ 734720 h 2685062"/>
              <a:gd name="connsiteX140" fmla="*/ 11846338 w 12192000"/>
              <a:gd name="connsiteY140" fmla="*/ 765994 h 2685062"/>
              <a:gd name="connsiteX141" fmla="*/ 11972492 w 12192000"/>
              <a:gd name="connsiteY141" fmla="*/ 796180 h 2685062"/>
              <a:gd name="connsiteX142" fmla="*/ 12035979 w 12192000"/>
              <a:gd name="connsiteY142" fmla="*/ 807835 h 2685062"/>
              <a:gd name="connsiteX143" fmla="*/ 12135850 w 12192000"/>
              <a:gd name="connsiteY143" fmla="*/ 819056 h 2685062"/>
              <a:gd name="connsiteX144" fmla="*/ 12166092 w 12192000"/>
              <a:gd name="connsiteY144" fmla="*/ 823695 h 2685062"/>
              <a:gd name="connsiteX145" fmla="*/ 12190645 w 12192000"/>
              <a:gd name="connsiteY145" fmla="*/ 826863 h 2685062"/>
              <a:gd name="connsiteX146" fmla="*/ 12192000 w 12192000"/>
              <a:gd name="connsiteY146" fmla="*/ 880762 h 2685062"/>
              <a:gd name="connsiteX147" fmla="*/ 12192000 w 12192000"/>
              <a:gd name="connsiteY147" fmla="*/ 2685062 h 2685062"/>
              <a:gd name="connsiteX148" fmla="*/ 0 w 12192000"/>
              <a:gd name="connsiteY148" fmla="*/ 2685062 h 2685062"/>
              <a:gd name="connsiteX149" fmla="*/ 0 w 12192000"/>
              <a:gd name="connsiteY149" fmla="*/ 283917 h 2685062"/>
              <a:gd name="connsiteX150" fmla="*/ 44213 w 12192000"/>
              <a:gd name="connsiteY150" fmla="*/ 302297 h 2685062"/>
              <a:gd name="connsiteX151" fmla="*/ 172465 w 12192000"/>
              <a:gd name="connsiteY151" fmla="*/ 314866 h 2685062"/>
              <a:gd name="connsiteX152" fmla="*/ 223361 w 12192000"/>
              <a:gd name="connsiteY152" fmla="*/ 304828 h 2685062"/>
              <a:gd name="connsiteX153" fmla="*/ 320595 w 12192000"/>
              <a:gd name="connsiteY153" fmla="*/ 288341 h 2685062"/>
              <a:gd name="connsiteX154" fmla="*/ 401087 w 12192000"/>
              <a:gd name="connsiteY154" fmla="*/ 246745 h 2685062"/>
              <a:gd name="connsiteX155" fmla="*/ 495839 w 12192000"/>
              <a:gd name="connsiteY155" fmla="*/ 217305 h 2685062"/>
              <a:gd name="connsiteX156" fmla="*/ 507910 w 12192000"/>
              <a:gd name="connsiteY156" fmla="*/ 219773 h 2685062"/>
              <a:gd name="connsiteX157" fmla="*/ 561428 w 12192000"/>
              <a:gd name="connsiteY157" fmla="*/ 201460 h 2685062"/>
              <a:gd name="connsiteX158" fmla="*/ 712813 w 12192000"/>
              <a:gd name="connsiteY158" fmla="*/ 151411 h 2685062"/>
              <a:gd name="connsiteX159" fmla="*/ 819366 w 12192000"/>
              <a:gd name="connsiteY159" fmla="*/ 70479 h 2685062"/>
              <a:gd name="connsiteX160" fmla="*/ 862489 w 12192000"/>
              <a:gd name="connsiteY160" fmla="*/ 63238 h 2685062"/>
              <a:gd name="connsiteX161" fmla="*/ 934387 w 12192000"/>
              <a:gd name="connsiteY161" fmla="*/ 50788 h 2685062"/>
              <a:gd name="connsiteX162" fmla="*/ 948874 w 12192000"/>
              <a:gd name="connsiteY162" fmla="*/ 55208 h 2685062"/>
              <a:gd name="connsiteX163" fmla="*/ 955237 w 12192000"/>
              <a:gd name="connsiteY163" fmla="*/ 54040 h 2685062"/>
              <a:gd name="connsiteX164" fmla="*/ 955886 w 12192000"/>
              <a:gd name="connsiteY164" fmla="*/ 54325 h 2685062"/>
              <a:gd name="connsiteX165" fmla="*/ 957239 w 12192000"/>
              <a:gd name="connsiteY165" fmla="*/ 53673 h 2685062"/>
              <a:gd name="connsiteX166" fmla="*/ 971343 w 12192000"/>
              <a:gd name="connsiteY166" fmla="*/ 51086 h 2685062"/>
              <a:gd name="connsiteX167" fmla="*/ 1002063 w 12192000"/>
              <a:gd name="connsiteY167" fmla="*/ 54158 h 2685062"/>
              <a:gd name="connsiteX168" fmla="*/ 1020663 w 12192000"/>
              <a:gd name="connsiteY168" fmla="*/ 53408 h 2685062"/>
              <a:gd name="connsiteX169" fmla="*/ 1039181 w 12192000"/>
              <a:gd name="connsiteY169" fmla="*/ 40356 h 2685062"/>
              <a:gd name="connsiteX170" fmla="*/ 1051914 w 12192000"/>
              <a:gd name="connsiteY170" fmla="*/ 39166 h 2685062"/>
              <a:gd name="connsiteX171" fmla="*/ 1054501 w 12192000"/>
              <a:gd name="connsiteY171" fmla="*/ 37372 h 2685062"/>
              <a:gd name="connsiteX172" fmla="*/ 1061859 w 12192000"/>
              <a:gd name="connsiteY172" fmla="*/ 33902 h 2685062"/>
              <a:gd name="connsiteX173" fmla="*/ 1054558 w 12192000"/>
              <a:gd name="connsiteY173" fmla="*/ 30385 h 2685062"/>
              <a:gd name="connsiteX174" fmla="*/ 1140852 w 12192000"/>
              <a:gd name="connsiteY174" fmla="*/ 17327 h 2685062"/>
              <a:gd name="connsiteX175" fmla="*/ 1214144 w 12192000"/>
              <a:gd name="connsiteY175" fmla="*/ 6192 h 2685062"/>
              <a:gd name="connsiteX176" fmla="*/ 1338122 w 12192000"/>
              <a:gd name="connsiteY176" fmla="*/ 27996 h 2685062"/>
              <a:gd name="connsiteX177" fmla="*/ 1462415 w 12192000"/>
              <a:gd name="connsiteY177" fmla="*/ 0 h 2685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192000" h="2685062">
                <a:moveTo>
                  <a:pt x="1462415" y="0"/>
                </a:moveTo>
                <a:lnTo>
                  <a:pt x="1494432" y="2457"/>
                </a:lnTo>
                <a:lnTo>
                  <a:pt x="1523667" y="11778"/>
                </a:lnTo>
                <a:lnTo>
                  <a:pt x="1523067" y="14207"/>
                </a:lnTo>
                <a:cubicBezTo>
                  <a:pt x="1523507" y="15871"/>
                  <a:pt x="1525127" y="16145"/>
                  <a:pt x="1527695" y="15715"/>
                </a:cubicBezTo>
                <a:lnTo>
                  <a:pt x="1532258" y="14518"/>
                </a:lnTo>
                <a:lnTo>
                  <a:pt x="1537796" y="16283"/>
                </a:lnTo>
                <a:lnTo>
                  <a:pt x="1553041" y="20452"/>
                </a:lnTo>
                <a:lnTo>
                  <a:pt x="1557495" y="25861"/>
                </a:lnTo>
                <a:cubicBezTo>
                  <a:pt x="1571578" y="34900"/>
                  <a:pt x="1608020" y="28047"/>
                  <a:pt x="1617448" y="40977"/>
                </a:cubicBezTo>
                <a:lnTo>
                  <a:pt x="1636697" y="39108"/>
                </a:lnTo>
                <a:lnTo>
                  <a:pt x="1657286" y="49000"/>
                </a:lnTo>
                <a:cubicBezTo>
                  <a:pt x="1676389" y="57312"/>
                  <a:pt x="1696470" y="62807"/>
                  <a:pt x="1719191" y="56920"/>
                </a:cubicBezTo>
                <a:cubicBezTo>
                  <a:pt x="1709669" y="73491"/>
                  <a:pt x="1773685" y="56115"/>
                  <a:pt x="1787126" y="71960"/>
                </a:cubicBezTo>
                <a:cubicBezTo>
                  <a:pt x="1795166" y="84864"/>
                  <a:pt x="1816465" y="82599"/>
                  <a:pt x="1834555" y="86590"/>
                </a:cubicBezTo>
                <a:cubicBezTo>
                  <a:pt x="1850712" y="99365"/>
                  <a:pt x="1937782" y="107374"/>
                  <a:pt x="1966070" y="103987"/>
                </a:cubicBezTo>
                <a:cubicBezTo>
                  <a:pt x="2043209" y="86564"/>
                  <a:pt x="2126459" y="137078"/>
                  <a:pt x="2188582" y="124532"/>
                </a:cubicBezTo>
                <a:cubicBezTo>
                  <a:pt x="2206064" y="124932"/>
                  <a:pt x="2221206" y="127247"/>
                  <a:pt x="2234811" y="130739"/>
                </a:cubicBezTo>
                <a:lnTo>
                  <a:pt x="2270005" y="143358"/>
                </a:lnTo>
                <a:lnTo>
                  <a:pt x="2274208" y="152634"/>
                </a:lnTo>
                <a:lnTo>
                  <a:pt x="2298905" y="157215"/>
                </a:lnTo>
                <a:lnTo>
                  <a:pt x="2304521" y="159957"/>
                </a:lnTo>
                <a:cubicBezTo>
                  <a:pt x="2315230" y="165224"/>
                  <a:pt x="2326016" y="170200"/>
                  <a:pt x="2337696" y="174150"/>
                </a:cubicBezTo>
                <a:cubicBezTo>
                  <a:pt x="2354259" y="137711"/>
                  <a:pt x="2439767" y="201742"/>
                  <a:pt x="2432112" y="166646"/>
                </a:cubicBezTo>
                <a:cubicBezTo>
                  <a:pt x="2482400" y="178172"/>
                  <a:pt x="2480978" y="159994"/>
                  <a:pt x="2500149" y="168723"/>
                </a:cubicBezTo>
                <a:lnTo>
                  <a:pt x="2504776" y="171455"/>
                </a:lnTo>
                <a:lnTo>
                  <a:pt x="2507358" y="177677"/>
                </a:lnTo>
                <a:lnTo>
                  <a:pt x="2518847" y="180936"/>
                </a:lnTo>
                <a:lnTo>
                  <a:pt x="2528864" y="188517"/>
                </a:lnTo>
                <a:cubicBezTo>
                  <a:pt x="2656589" y="189245"/>
                  <a:pt x="2818894" y="267460"/>
                  <a:pt x="2938613" y="248764"/>
                </a:cubicBezTo>
                <a:lnTo>
                  <a:pt x="3132513" y="229282"/>
                </a:lnTo>
                <a:cubicBezTo>
                  <a:pt x="3153391" y="218737"/>
                  <a:pt x="3187482" y="219423"/>
                  <a:pt x="3208657" y="230814"/>
                </a:cubicBezTo>
                <a:cubicBezTo>
                  <a:pt x="3212298" y="232773"/>
                  <a:pt x="3215412" y="234983"/>
                  <a:pt x="3217904" y="237375"/>
                </a:cubicBezTo>
                <a:cubicBezTo>
                  <a:pt x="3279351" y="212726"/>
                  <a:pt x="3298012" y="233121"/>
                  <a:pt x="3330150" y="214762"/>
                </a:cubicBezTo>
                <a:cubicBezTo>
                  <a:pt x="3405531" y="217422"/>
                  <a:pt x="3451160" y="247861"/>
                  <a:pt x="3480527" y="231960"/>
                </a:cubicBezTo>
                <a:cubicBezTo>
                  <a:pt x="3516075" y="238991"/>
                  <a:pt x="3553819" y="269164"/>
                  <a:pt x="3591806" y="253003"/>
                </a:cubicBezTo>
                <a:cubicBezTo>
                  <a:pt x="3586673" y="270421"/>
                  <a:pt x="3640034" y="246868"/>
                  <a:pt x="3655143" y="261318"/>
                </a:cubicBezTo>
                <a:cubicBezTo>
                  <a:pt x="3664868" y="273371"/>
                  <a:pt x="3683329" y="269035"/>
                  <a:pt x="3700191" y="271235"/>
                </a:cubicBezTo>
                <a:cubicBezTo>
                  <a:pt x="3717097" y="282363"/>
                  <a:pt x="3796016" y="281812"/>
                  <a:pt x="3820459" y="275675"/>
                </a:cubicBezTo>
                <a:cubicBezTo>
                  <a:pt x="3885463" y="250791"/>
                  <a:pt x="3969506" y="292904"/>
                  <a:pt x="4022158" y="274341"/>
                </a:cubicBezTo>
                <a:cubicBezTo>
                  <a:pt x="4084571" y="269096"/>
                  <a:pt x="4119856" y="297968"/>
                  <a:pt x="4164508" y="309117"/>
                </a:cubicBezTo>
                <a:cubicBezTo>
                  <a:pt x="4171915" y="271244"/>
                  <a:pt x="4260667" y="326583"/>
                  <a:pt x="4246843" y="292417"/>
                </a:cubicBezTo>
                <a:cubicBezTo>
                  <a:pt x="4309458" y="301142"/>
                  <a:pt x="4279869" y="266331"/>
                  <a:pt x="4337133" y="304707"/>
                </a:cubicBezTo>
                <a:cubicBezTo>
                  <a:pt x="4450694" y="292933"/>
                  <a:pt x="4593547" y="330375"/>
                  <a:pt x="4696109" y="300060"/>
                </a:cubicBezTo>
                <a:lnTo>
                  <a:pt x="4928090" y="291457"/>
                </a:lnTo>
                <a:lnTo>
                  <a:pt x="4960316" y="287841"/>
                </a:lnTo>
                <a:cubicBezTo>
                  <a:pt x="4960491" y="287029"/>
                  <a:pt x="4960665" y="286217"/>
                  <a:pt x="4960840" y="285406"/>
                </a:cubicBezTo>
                <a:cubicBezTo>
                  <a:pt x="4962018" y="283892"/>
                  <a:pt x="4963691" y="283924"/>
                  <a:pt x="4965958" y="284802"/>
                </a:cubicBezTo>
                <a:lnTo>
                  <a:pt x="4969785" y="286778"/>
                </a:lnTo>
                <a:lnTo>
                  <a:pt x="4975889" y="286093"/>
                </a:lnTo>
                <a:lnTo>
                  <a:pt x="4992382" y="284871"/>
                </a:lnTo>
                <a:lnTo>
                  <a:pt x="4999094" y="280499"/>
                </a:lnTo>
                <a:lnTo>
                  <a:pt x="5080965" y="282208"/>
                </a:lnTo>
                <a:lnTo>
                  <a:pt x="5105166" y="276473"/>
                </a:lnTo>
                <a:cubicBezTo>
                  <a:pt x="5127226" y="271982"/>
                  <a:pt x="5148953" y="270367"/>
                  <a:pt x="5168054" y="280137"/>
                </a:cubicBezTo>
                <a:cubicBezTo>
                  <a:pt x="5166431" y="262533"/>
                  <a:pt x="5219894" y="290815"/>
                  <a:pt x="5239940" y="278079"/>
                </a:cubicBezTo>
                <a:cubicBezTo>
                  <a:pt x="5253484" y="267178"/>
                  <a:pt x="5272860" y="273220"/>
                  <a:pt x="5291998" y="272685"/>
                </a:cubicBezTo>
                <a:cubicBezTo>
                  <a:pt x="5313255" y="263383"/>
                  <a:pt x="5400292" y="271538"/>
                  <a:pt x="5425861" y="279926"/>
                </a:cubicBezTo>
                <a:cubicBezTo>
                  <a:pt x="5491875" y="310639"/>
                  <a:pt x="5594484" y="277380"/>
                  <a:pt x="5648321" y="300693"/>
                </a:cubicBezTo>
                <a:cubicBezTo>
                  <a:pt x="5665248" y="303486"/>
                  <a:pt x="5680800" y="304021"/>
                  <a:pt x="5695414" y="303150"/>
                </a:cubicBezTo>
                <a:lnTo>
                  <a:pt x="5743064" y="289335"/>
                </a:lnTo>
                <a:lnTo>
                  <a:pt x="5768797" y="289436"/>
                </a:lnTo>
                <a:lnTo>
                  <a:pt x="5775419" y="287831"/>
                </a:lnTo>
                <a:cubicBezTo>
                  <a:pt x="5788059" y="284732"/>
                  <a:pt x="5800646" y="281926"/>
                  <a:pt x="5813624" y="280263"/>
                </a:cubicBezTo>
                <a:cubicBezTo>
                  <a:pt x="5812999" y="318182"/>
                  <a:pt x="5923892" y="272386"/>
                  <a:pt x="5900676" y="304615"/>
                </a:cubicBezTo>
                <a:cubicBezTo>
                  <a:pt x="5954067" y="302717"/>
                  <a:pt x="5944477" y="319870"/>
                  <a:pt x="5966795" y="314993"/>
                </a:cubicBezTo>
                <a:lnTo>
                  <a:pt x="5972463" y="313217"/>
                </a:lnTo>
                <a:lnTo>
                  <a:pt x="5977754" y="307726"/>
                </a:lnTo>
                <a:lnTo>
                  <a:pt x="5990232" y="306694"/>
                </a:lnTo>
                <a:lnTo>
                  <a:pt x="6003260" y="301250"/>
                </a:lnTo>
                <a:cubicBezTo>
                  <a:pt x="6125949" y="323771"/>
                  <a:pt x="6292426" y="300774"/>
                  <a:pt x="6398655" y="340447"/>
                </a:cubicBezTo>
                <a:lnTo>
                  <a:pt x="6477250" y="370643"/>
                </a:lnTo>
                <a:cubicBezTo>
                  <a:pt x="6518147" y="382960"/>
                  <a:pt x="6560561" y="347277"/>
                  <a:pt x="6599996" y="371929"/>
                </a:cubicBezTo>
                <a:cubicBezTo>
                  <a:pt x="6615225" y="385828"/>
                  <a:pt x="6648193" y="391366"/>
                  <a:pt x="6673632" y="384303"/>
                </a:cubicBezTo>
                <a:cubicBezTo>
                  <a:pt x="6678009" y="383088"/>
                  <a:pt x="6681993" y="381536"/>
                  <a:pt x="6685461" y="379698"/>
                </a:cubicBezTo>
                <a:cubicBezTo>
                  <a:pt x="6733172" y="414481"/>
                  <a:pt x="6760278" y="398336"/>
                  <a:pt x="6782761" y="421766"/>
                </a:cubicBezTo>
                <a:cubicBezTo>
                  <a:pt x="6856177" y="432921"/>
                  <a:pt x="6913662" y="412056"/>
                  <a:pt x="6934599" y="432626"/>
                </a:cubicBezTo>
                <a:cubicBezTo>
                  <a:pt x="6971837" y="432351"/>
                  <a:pt x="7021650" y="410307"/>
                  <a:pt x="7050728" y="432695"/>
                </a:cubicBezTo>
                <a:cubicBezTo>
                  <a:pt x="7053692" y="415076"/>
                  <a:pt x="7094152" y="447339"/>
                  <a:pt x="7115167" y="436243"/>
                </a:cubicBezTo>
                <a:cubicBezTo>
                  <a:pt x="7129937" y="426464"/>
                  <a:pt x="7145660" y="433973"/>
                  <a:pt x="7162809" y="434931"/>
                </a:cubicBezTo>
                <a:cubicBezTo>
                  <a:pt x="7184039" y="427343"/>
                  <a:pt x="7259393" y="442217"/>
                  <a:pt x="7280034" y="452539"/>
                </a:cubicBezTo>
                <a:cubicBezTo>
                  <a:pt x="7331046" y="488194"/>
                  <a:pt x="7430616" y="463128"/>
                  <a:pt x="7472654" y="490482"/>
                </a:cubicBezTo>
                <a:cubicBezTo>
                  <a:pt x="7541994" y="500728"/>
                  <a:pt x="7643498" y="509315"/>
                  <a:pt x="7696080" y="514010"/>
                </a:cubicBezTo>
                <a:cubicBezTo>
                  <a:pt x="7760013" y="517032"/>
                  <a:pt x="7715914" y="545003"/>
                  <a:pt x="7788139" y="518649"/>
                </a:cubicBezTo>
                <a:cubicBezTo>
                  <a:pt x="7891601" y="550571"/>
                  <a:pt x="8143222" y="510864"/>
                  <a:pt x="8227756" y="558548"/>
                </a:cubicBezTo>
                <a:cubicBezTo>
                  <a:pt x="8317876" y="569251"/>
                  <a:pt x="8261697" y="569546"/>
                  <a:pt x="8328859" y="582867"/>
                </a:cubicBezTo>
                <a:cubicBezTo>
                  <a:pt x="8336976" y="627379"/>
                  <a:pt x="8495085" y="643261"/>
                  <a:pt x="8532898" y="668282"/>
                </a:cubicBezTo>
                <a:cubicBezTo>
                  <a:pt x="8626867" y="678146"/>
                  <a:pt x="8698118" y="715603"/>
                  <a:pt x="8792925" y="701900"/>
                </a:cubicBezTo>
                <a:cubicBezTo>
                  <a:pt x="8796856" y="707882"/>
                  <a:pt x="8802564" y="712918"/>
                  <a:pt x="8809491" y="717262"/>
                </a:cubicBezTo>
                <a:lnTo>
                  <a:pt x="8814066" y="719410"/>
                </a:lnTo>
                <a:lnTo>
                  <a:pt x="8815751" y="718686"/>
                </a:lnTo>
                <a:cubicBezTo>
                  <a:pt x="8822134" y="717141"/>
                  <a:pt x="8829906" y="716502"/>
                  <a:pt x="8840540" y="717083"/>
                </a:cubicBezTo>
                <a:cubicBezTo>
                  <a:pt x="8844566" y="676948"/>
                  <a:pt x="8862586" y="704813"/>
                  <a:pt x="8897062" y="697553"/>
                </a:cubicBezTo>
                <a:cubicBezTo>
                  <a:pt x="8926967" y="693826"/>
                  <a:pt x="8941387" y="680067"/>
                  <a:pt x="8965922" y="672885"/>
                </a:cubicBezTo>
                <a:cubicBezTo>
                  <a:pt x="8985861" y="668208"/>
                  <a:pt x="8990451" y="680326"/>
                  <a:pt x="9016694" y="669496"/>
                </a:cubicBezTo>
                <a:cubicBezTo>
                  <a:pt x="9064226" y="680468"/>
                  <a:pt x="9102961" y="653230"/>
                  <a:pt x="9139695" y="648174"/>
                </a:cubicBezTo>
                <a:cubicBezTo>
                  <a:pt x="9151373" y="649226"/>
                  <a:pt x="9186538" y="645057"/>
                  <a:pt x="9219129" y="639013"/>
                </a:cubicBezTo>
                <a:lnTo>
                  <a:pt x="9221354" y="638501"/>
                </a:lnTo>
                <a:lnTo>
                  <a:pt x="9237592" y="642494"/>
                </a:lnTo>
                <a:cubicBezTo>
                  <a:pt x="9241555" y="644212"/>
                  <a:pt x="9242210" y="646204"/>
                  <a:pt x="9236570" y="648762"/>
                </a:cubicBezTo>
                <a:cubicBezTo>
                  <a:pt x="9241114" y="652055"/>
                  <a:pt x="9245782" y="653517"/>
                  <a:pt x="9250521" y="654041"/>
                </a:cubicBezTo>
                <a:cubicBezTo>
                  <a:pt x="9259996" y="655089"/>
                  <a:pt x="9269753" y="652386"/>
                  <a:pt x="9279357" y="653083"/>
                </a:cubicBezTo>
                <a:lnTo>
                  <a:pt x="9289731" y="656356"/>
                </a:lnTo>
                <a:lnTo>
                  <a:pt x="9293723" y="656237"/>
                </a:lnTo>
                <a:lnTo>
                  <a:pt x="9303097" y="656723"/>
                </a:lnTo>
                <a:lnTo>
                  <a:pt x="9302251" y="652725"/>
                </a:lnTo>
                <a:cubicBezTo>
                  <a:pt x="9300561" y="648869"/>
                  <a:pt x="9299408" y="644676"/>
                  <a:pt x="9314122" y="645860"/>
                </a:cubicBezTo>
                <a:cubicBezTo>
                  <a:pt x="9344433" y="650204"/>
                  <a:pt x="9356229" y="634440"/>
                  <a:pt x="9367772" y="650683"/>
                </a:cubicBezTo>
                <a:lnTo>
                  <a:pt x="9370291" y="655264"/>
                </a:lnTo>
                <a:lnTo>
                  <a:pt x="9377007" y="656308"/>
                </a:lnTo>
                <a:cubicBezTo>
                  <a:pt x="9380660" y="656340"/>
                  <a:pt x="9382824" y="655350"/>
                  <a:pt x="9382497" y="652427"/>
                </a:cubicBezTo>
                <a:cubicBezTo>
                  <a:pt x="9410043" y="665739"/>
                  <a:pt x="9444726" y="648939"/>
                  <a:pt x="9474013" y="647005"/>
                </a:cubicBezTo>
                <a:cubicBezTo>
                  <a:pt x="9494765" y="659508"/>
                  <a:pt x="9535746" y="643122"/>
                  <a:pt x="9595899" y="646979"/>
                </a:cubicBezTo>
                <a:cubicBezTo>
                  <a:pt x="9618462" y="661284"/>
                  <a:pt x="9636478" y="649421"/>
                  <a:pt x="9681269" y="669984"/>
                </a:cubicBezTo>
                <a:cubicBezTo>
                  <a:pt x="9683619" y="668616"/>
                  <a:pt x="9686437" y="667412"/>
                  <a:pt x="9689635" y="666408"/>
                </a:cubicBezTo>
                <a:cubicBezTo>
                  <a:pt x="9708219" y="660578"/>
                  <a:pt x="9735343" y="662659"/>
                  <a:pt x="9750215" y="671056"/>
                </a:cubicBezTo>
                <a:cubicBezTo>
                  <a:pt x="9822560" y="699676"/>
                  <a:pt x="9892985" y="704863"/>
                  <a:pt x="9957974" y="715080"/>
                </a:cubicBezTo>
                <a:cubicBezTo>
                  <a:pt x="10031995" y="724171"/>
                  <a:pt x="9987651" y="694466"/>
                  <a:pt x="10076482" y="723397"/>
                </a:cubicBezTo>
                <a:cubicBezTo>
                  <a:pt x="10088264" y="715403"/>
                  <a:pt x="10100170" y="715974"/>
                  <a:pt x="10119263" y="721877"/>
                </a:cubicBezTo>
                <a:cubicBezTo>
                  <a:pt x="10155360" y="725633"/>
                  <a:pt x="10156886" y="703170"/>
                  <a:pt x="10190893" y="719606"/>
                </a:cubicBezTo>
                <a:cubicBezTo>
                  <a:pt x="10186651" y="707114"/>
                  <a:pt x="10260542" y="720706"/>
                  <a:pt x="10246203" y="706893"/>
                </a:cubicBezTo>
                <a:cubicBezTo>
                  <a:pt x="10271921" y="697978"/>
                  <a:pt x="10280122" y="716866"/>
                  <a:pt x="10305396" y="709359"/>
                </a:cubicBezTo>
                <a:cubicBezTo>
                  <a:pt x="10332266" y="709354"/>
                  <a:pt x="10287753" y="720864"/>
                  <a:pt x="10316856" y="724179"/>
                </a:cubicBezTo>
                <a:cubicBezTo>
                  <a:pt x="10352558" y="726042"/>
                  <a:pt x="10348261" y="747938"/>
                  <a:pt x="10380919" y="722193"/>
                </a:cubicBezTo>
                <a:cubicBezTo>
                  <a:pt x="10416787" y="731946"/>
                  <a:pt x="10426384" y="719959"/>
                  <a:pt x="10478351" y="717620"/>
                </a:cubicBezTo>
                <a:cubicBezTo>
                  <a:pt x="10498311" y="726260"/>
                  <a:pt x="10516018" y="724144"/>
                  <a:pt x="10533954" y="718660"/>
                </a:cubicBezTo>
                <a:cubicBezTo>
                  <a:pt x="10583102" y="724237"/>
                  <a:pt x="10630104" y="717410"/>
                  <a:pt x="10686474" y="717507"/>
                </a:cubicBezTo>
                <a:cubicBezTo>
                  <a:pt x="10745160" y="730015"/>
                  <a:pt x="10779502" y="713124"/>
                  <a:pt x="10839729" y="713306"/>
                </a:cubicBezTo>
                <a:cubicBezTo>
                  <a:pt x="10895292" y="735596"/>
                  <a:pt x="10883335" y="689293"/>
                  <a:pt x="10933271" y="693628"/>
                </a:cubicBezTo>
                <a:cubicBezTo>
                  <a:pt x="11011861" y="715600"/>
                  <a:pt x="10933941" y="678563"/>
                  <a:pt x="11058950" y="692031"/>
                </a:cubicBezTo>
                <a:cubicBezTo>
                  <a:pt x="11065574" y="695312"/>
                  <a:pt x="11081347" y="693264"/>
                  <a:pt x="11080388" y="689245"/>
                </a:cubicBezTo>
                <a:cubicBezTo>
                  <a:pt x="11088176" y="690921"/>
                  <a:pt x="11106032" y="699551"/>
                  <a:pt x="11108911" y="693363"/>
                </a:cubicBezTo>
                <a:cubicBezTo>
                  <a:pt x="11149149" y="694912"/>
                  <a:pt x="11188483" y="700869"/>
                  <a:pt x="11223119" y="710661"/>
                </a:cubicBezTo>
                <a:cubicBezTo>
                  <a:pt x="11302059" y="704266"/>
                  <a:pt x="11255617" y="731239"/>
                  <a:pt x="11311983" y="731410"/>
                </a:cubicBezTo>
                <a:cubicBezTo>
                  <a:pt x="11358665" y="721567"/>
                  <a:pt x="11373894" y="732638"/>
                  <a:pt x="11426940" y="727340"/>
                </a:cubicBezTo>
                <a:cubicBezTo>
                  <a:pt x="11441993" y="748767"/>
                  <a:pt x="11476074" y="727962"/>
                  <a:pt x="11495624" y="734858"/>
                </a:cubicBezTo>
                <a:cubicBezTo>
                  <a:pt x="11530841" y="712823"/>
                  <a:pt x="11572173" y="761025"/>
                  <a:pt x="11605975" y="762433"/>
                </a:cubicBezTo>
                <a:cubicBezTo>
                  <a:pt x="11663316" y="761143"/>
                  <a:pt x="11727635" y="739871"/>
                  <a:pt x="11756134" y="765012"/>
                </a:cubicBezTo>
                <a:cubicBezTo>
                  <a:pt x="11761348" y="755468"/>
                  <a:pt x="11757526" y="741943"/>
                  <a:pt x="11789788" y="745316"/>
                </a:cubicBezTo>
                <a:cubicBezTo>
                  <a:pt x="11803253" y="740995"/>
                  <a:pt x="11807074" y="726138"/>
                  <a:pt x="11832833" y="734720"/>
                </a:cubicBezTo>
                <a:cubicBezTo>
                  <a:pt x="11798846" y="746443"/>
                  <a:pt x="11852821" y="750721"/>
                  <a:pt x="11846338" y="765994"/>
                </a:cubicBezTo>
                <a:cubicBezTo>
                  <a:pt x="11885947" y="777555"/>
                  <a:pt x="11979991" y="768560"/>
                  <a:pt x="11972492" y="796180"/>
                </a:cubicBezTo>
                <a:cubicBezTo>
                  <a:pt x="11982931" y="813135"/>
                  <a:pt x="12037186" y="790090"/>
                  <a:pt x="12035979" y="807835"/>
                </a:cubicBezTo>
                <a:cubicBezTo>
                  <a:pt x="12059694" y="797410"/>
                  <a:pt x="12098516" y="817951"/>
                  <a:pt x="12135850" y="819056"/>
                </a:cubicBezTo>
                <a:cubicBezTo>
                  <a:pt x="12142309" y="827359"/>
                  <a:pt x="12150917" y="827343"/>
                  <a:pt x="12166092" y="823695"/>
                </a:cubicBezTo>
                <a:lnTo>
                  <a:pt x="12190645" y="826863"/>
                </a:lnTo>
                <a:lnTo>
                  <a:pt x="12192000" y="880762"/>
                </a:lnTo>
                <a:lnTo>
                  <a:pt x="12192000" y="2685062"/>
                </a:lnTo>
                <a:lnTo>
                  <a:pt x="0" y="2685062"/>
                </a:lnTo>
                <a:lnTo>
                  <a:pt x="0" y="283917"/>
                </a:lnTo>
                <a:lnTo>
                  <a:pt x="44213" y="302297"/>
                </a:lnTo>
                <a:cubicBezTo>
                  <a:pt x="57125" y="321111"/>
                  <a:pt x="151150" y="310991"/>
                  <a:pt x="172465" y="314866"/>
                </a:cubicBezTo>
                <a:cubicBezTo>
                  <a:pt x="201883" y="307918"/>
                  <a:pt x="192551" y="309357"/>
                  <a:pt x="223361" y="304828"/>
                </a:cubicBezTo>
                <a:cubicBezTo>
                  <a:pt x="235273" y="283233"/>
                  <a:pt x="290082" y="292239"/>
                  <a:pt x="320595" y="288341"/>
                </a:cubicBezTo>
                <a:cubicBezTo>
                  <a:pt x="326821" y="269140"/>
                  <a:pt x="347105" y="264031"/>
                  <a:pt x="401087" y="246745"/>
                </a:cubicBezTo>
                <a:cubicBezTo>
                  <a:pt x="407068" y="225028"/>
                  <a:pt x="475269" y="251137"/>
                  <a:pt x="495839" y="217305"/>
                </a:cubicBezTo>
                <a:cubicBezTo>
                  <a:pt x="499633" y="218429"/>
                  <a:pt x="503698" y="219260"/>
                  <a:pt x="507910" y="219773"/>
                </a:cubicBezTo>
                <a:cubicBezTo>
                  <a:pt x="532375" y="222751"/>
                  <a:pt x="556339" y="214552"/>
                  <a:pt x="561428" y="201460"/>
                </a:cubicBezTo>
                <a:cubicBezTo>
                  <a:pt x="599747" y="152259"/>
                  <a:pt x="661201" y="177254"/>
                  <a:pt x="712813" y="151411"/>
                </a:cubicBezTo>
                <a:cubicBezTo>
                  <a:pt x="774420" y="124993"/>
                  <a:pt x="765426" y="123535"/>
                  <a:pt x="819366" y="70479"/>
                </a:cubicBezTo>
                <a:cubicBezTo>
                  <a:pt x="839647" y="77460"/>
                  <a:pt x="850544" y="74267"/>
                  <a:pt x="862489" y="63238"/>
                </a:cubicBezTo>
                <a:cubicBezTo>
                  <a:pt x="893284" y="51157"/>
                  <a:pt x="919686" y="77447"/>
                  <a:pt x="934387" y="50788"/>
                </a:cubicBezTo>
                <a:cubicBezTo>
                  <a:pt x="936825" y="54711"/>
                  <a:pt x="942184" y="55671"/>
                  <a:pt x="948874" y="55208"/>
                </a:cubicBezTo>
                <a:lnTo>
                  <a:pt x="955237" y="54040"/>
                </a:lnTo>
                <a:lnTo>
                  <a:pt x="955886" y="54325"/>
                </a:lnTo>
                <a:lnTo>
                  <a:pt x="957239" y="53673"/>
                </a:lnTo>
                <a:lnTo>
                  <a:pt x="971343" y="51086"/>
                </a:lnTo>
                <a:cubicBezTo>
                  <a:pt x="986863" y="47540"/>
                  <a:pt x="1001346" y="44460"/>
                  <a:pt x="1002063" y="54158"/>
                </a:cubicBezTo>
                <a:cubicBezTo>
                  <a:pt x="1010763" y="55438"/>
                  <a:pt x="1016476" y="54893"/>
                  <a:pt x="1020663" y="53408"/>
                </a:cubicBezTo>
                <a:cubicBezTo>
                  <a:pt x="1029036" y="50440"/>
                  <a:pt x="1031306" y="43717"/>
                  <a:pt x="1039181" y="40356"/>
                </a:cubicBezTo>
                <a:lnTo>
                  <a:pt x="1051914" y="39166"/>
                </a:lnTo>
                <a:lnTo>
                  <a:pt x="1054501" y="37372"/>
                </a:lnTo>
                <a:lnTo>
                  <a:pt x="1061859" y="33902"/>
                </a:lnTo>
                <a:lnTo>
                  <a:pt x="1054558" y="30385"/>
                </a:lnTo>
                <a:cubicBezTo>
                  <a:pt x="1046905" y="27358"/>
                  <a:pt x="1128596" y="22367"/>
                  <a:pt x="1140852" y="17327"/>
                </a:cubicBezTo>
                <a:lnTo>
                  <a:pt x="1214144" y="6192"/>
                </a:lnTo>
                <a:lnTo>
                  <a:pt x="1338122" y="27996"/>
                </a:lnTo>
                <a:cubicBezTo>
                  <a:pt x="1367144" y="1801"/>
                  <a:pt x="1432673" y="14019"/>
                  <a:pt x="1462415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4B6322E-3584-EE06-DE80-DE1AB7A90165}"/>
              </a:ext>
            </a:extLst>
          </p:cNvPr>
          <p:cNvSpPr/>
          <p:nvPr/>
        </p:nvSpPr>
        <p:spPr>
          <a:xfrm>
            <a:off x="1618082" y="4779792"/>
            <a:ext cx="8943998" cy="8567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-95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Mockup del proyecto</a:t>
            </a:r>
            <a:endParaRPr lang="en-US" sz="44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9BEB56-525B-DB08-6B15-71AED4974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35" b="1"/>
          <a:stretch>
            <a:fillRect/>
          </a:stretch>
        </p:blipFill>
        <p:spPr>
          <a:xfrm>
            <a:off x="989973" y="1179360"/>
            <a:ext cx="2966727" cy="250000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BDE7AC-8E5A-7D5C-1ED9-1981F235FE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401" b="-1"/>
          <a:stretch>
            <a:fillRect/>
          </a:stretch>
        </p:blipFill>
        <p:spPr>
          <a:xfrm>
            <a:off x="4614834" y="1179360"/>
            <a:ext cx="3026664" cy="250000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F6783CE-A1D2-045F-F669-8BF21A1F15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04" r="44266" b="1"/>
          <a:stretch>
            <a:fillRect/>
          </a:stretch>
        </p:blipFill>
        <p:spPr>
          <a:xfrm>
            <a:off x="8264886" y="1023903"/>
            <a:ext cx="3026664" cy="265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7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742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Arquitectura, Tecnologías y Seguridad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7750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por Capas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22004"/>
            <a:ext cx="2533686" cy="15863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406352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2830116"/>
            <a:ext cx="208880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Interfaz responsive para residentes y administradores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0455" y="2222004"/>
            <a:ext cx="2533686" cy="15863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20997" y="2406352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620997" y="2830116"/>
            <a:ext cx="208880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/ Python · API REST · Lógica de autorización y comunicación con ESP32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73612"/>
            <a:ext cx="2533686" cy="18509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4157960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2017" y="4581723"/>
            <a:ext cx="208880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datos: residentes, viviendas, vehículos, invitaciones, accesos y </a:t>
            </a:r>
            <a:r>
              <a:rPr lang="en-US" sz="1300" kern="0" spc="-26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evidencias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(firebase)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0455" y="3973612"/>
            <a:ext cx="2533686" cy="18509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20997" y="4157960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Controlador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620997" y="4581723"/>
            <a:ext cx="208880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+ servomotores + botones físicos de salida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184844" y="1612205"/>
            <a:ext cx="5470785" cy="4398367"/>
          </a:xfrm>
          <a:prstGeom prst="roundRect">
            <a:avLst>
              <a:gd name="adj" fmla="val 270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1"/>
          <p:cNvSpPr/>
          <p:nvPr/>
        </p:nvSpPr>
        <p:spPr>
          <a:xfrm>
            <a:off x="6350139" y="177750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50139" y="2201267"/>
            <a:ext cx="5140196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 de usuarios con control por roles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permisos en backend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único, de un solo uso y con expiración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Rechazo automático de QR inválidos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histórico y auditoría de eventos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Separación de responsabilidades frontend/backend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FC7E-4789-7308-26EF-84E241019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D70689-929A-B3EA-7AED-D75348F4E672}"/>
              </a:ext>
            </a:extLst>
          </p:cNvPr>
          <p:cNvSpPr/>
          <p:nvPr/>
        </p:nvSpPr>
        <p:spPr>
          <a:xfrm>
            <a:off x="621590" y="3010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Stack</a:t>
            </a:r>
            <a:endParaRPr lang="en-US" sz="32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F3F84F38-5940-65E9-4884-5D4396713280}"/>
              </a:ext>
            </a:extLst>
          </p:cNvPr>
          <p:cNvSpPr/>
          <p:nvPr/>
        </p:nvSpPr>
        <p:spPr>
          <a:xfrm>
            <a:off x="578498" y="817776"/>
            <a:ext cx="11271380" cy="5890934"/>
          </a:xfrm>
          <a:prstGeom prst="roundRect">
            <a:avLst>
              <a:gd name="adj" fmla="val 270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2EB2DE7-8757-5AA8-8B34-ED19C464AA67}"/>
              </a:ext>
            </a:extLst>
          </p:cNvPr>
          <p:cNvSpPr/>
          <p:nvPr/>
        </p:nvSpPr>
        <p:spPr>
          <a:xfrm>
            <a:off x="6350139" y="177750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68B2775-2B17-5FF3-3C83-F1F560E87A25}"/>
              </a:ext>
            </a:extLst>
          </p:cNvPr>
          <p:cNvSpPr/>
          <p:nvPr/>
        </p:nvSpPr>
        <p:spPr>
          <a:xfrm>
            <a:off x="6350139" y="2201267"/>
            <a:ext cx="5140196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endParaRPr lang="en-US" sz="13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C2154F5-1C59-AD6E-21B1-7FECDB6E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796" y="923732"/>
            <a:ext cx="7880948" cy="547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74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Alcance y Resultado Esperado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712218"/>
            <a:ext cx="5470785" cy="3110905"/>
          </a:xfrm>
          <a:prstGeom prst="roundRect">
            <a:avLst>
              <a:gd name="adj" fmla="val 382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07710" y="18775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Solución Integral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301280"/>
            <a:ext cx="5140196" cy="246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residentes, viviendas y vehículos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invitaciones con códigos QR de un solo uso y expiración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Reconocimiento automático de patentes vehiculares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y trazabilidad completa de accesos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de evidencias (fotos/videos)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administrativo con estadísticas y auditoría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IoT para ejecución física de accesos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18775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Escalable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301280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modular y escalable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 de incorporar nuevas funcionalidades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Soporte para </a:t>
            </a:r>
            <a:r>
              <a:rPr lang="en-US" sz="1300" kern="0" spc="-26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dispositions </a:t>
            </a:r>
            <a:r>
              <a:rPr lang="en-US" sz="1300" kern="0" spc="-26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controladores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Mecanismos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validación extensibles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Preparado para futuras etapas según necesidades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9516" y="5195193"/>
            <a:ext cx="106207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 Esperado: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Centralizar y digitalizar completamente el proceso de control de acceso en comunidades residenciales, mejorando la trazabilidad, gestión de autorizaciones, supervisión de eventos en tiempo real y disponibilidad de información para la administración.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5009158"/>
            <a:ext cx="19050" cy="901303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077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CAP: Control Inteligente de Accesos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85536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622173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Registro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54616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48102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40502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Autorización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61475" y="5562501"/>
            <a:ext cx="10868745" cy="262037"/>
          </a:xfrm>
          <a:prstGeom prst="roundRect">
            <a:avLst>
              <a:gd name="adj" fmla="val 1491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41" y="5639197"/>
            <a:ext cx="116281" cy="92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3688" y="5638006"/>
            <a:ext cx="11083152" cy="116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solución inteligente para transformar el control de acceso en un proceso seguro, trazable y centralizado.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56682" y="5883374"/>
            <a:ext cx="11478330" cy="92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Your Access, Protect Your Community</a:t>
            </a:r>
            <a:endParaRPr lang="en-US" sz="550" dirty="0"/>
          </a:p>
        </p:txBody>
      </p:sp>
      <p:sp>
        <p:nvSpPr>
          <p:cNvPr id="12" name="Shape 8"/>
          <p:cNvSpPr/>
          <p:nvPr/>
        </p:nvSpPr>
        <p:spPr>
          <a:xfrm>
            <a:off x="661475" y="605839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/>
          <p:nvPr/>
        </p:nvSpPr>
        <p:spPr>
          <a:xfrm>
            <a:off x="661475" y="6153150"/>
            <a:ext cx="10868745" cy="244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spcAft>
                <a:spcPts val="450"/>
              </a:spcAft>
              <a:buNone/>
            </a:pPr>
            <a:endParaRPr lang="en-US" sz="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906DD-34D2-614E-8A6B-365FC2E89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CFC98EF-CEA8-4F7A-2F8E-F558394E2964}"/>
              </a:ext>
            </a:extLst>
          </p:cNvPr>
          <p:cNvSpPr/>
          <p:nvPr/>
        </p:nvSpPr>
        <p:spPr>
          <a:xfrm>
            <a:off x="755903" y="339976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spc="-95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Muchas gracias</a:t>
            </a:r>
            <a:endParaRPr lang="en-US" sz="4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857C322-6F13-4AB4-29AA-887DFE000794}"/>
              </a:ext>
            </a:extLst>
          </p:cNvPr>
          <p:cNvSpPr/>
          <p:nvPr/>
        </p:nvSpPr>
        <p:spPr>
          <a:xfrm>
            <a:off x="1514121" y="4171528"/>
            <a:ext cx="9163757" cy="450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kern="1200" spc="-15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Control Your Access, Protect Your Community</a:t>
            </a:r>
            <a:endParaRPr lang="en-US" sz="20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1F0917B0-3FBB-8AC0-8B96-7E074BA06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90" y="320231"/>
            <a:ext cx="2836567" cy="2836567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166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74</TotalTime>
  <Words>1117</Words>
  <Application>Microsoft Office PowerPoint</Application>
  <PresentationFormat>Panorámica</PresentationFormat>
  <Paragraphs>177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Inter Bold</vt:lpstr>
      <vt:lpstr>Aptos</vt:lpstr>
      <vt:lpstr>Inter</vt:lpstr>
      <vt:lpstr>Aptos Display</vt:lpstr>
      <vt:lpstr>Inter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ernesto neculan</cp:lastModifiedBy>
  <cp:revision>7</cp:revision>
  <dcterms:created xsi:type="dcterms:W3CDTF">2026-09-04T04:04:08Z</dcterms:created>
  <dcterms:modified xsi:type="dcterms:W3CDTF">2026-09-12T01:39:37Z</dcterms:modified>
</cp:coreProperties>
</file>