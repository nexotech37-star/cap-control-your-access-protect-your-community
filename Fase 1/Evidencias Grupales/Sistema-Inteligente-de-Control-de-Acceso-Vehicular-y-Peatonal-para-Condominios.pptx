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Inter" panose="020B0604020202020204" charset="0"/>
      <p:regular r:id="rId14"/>
    </p:embeddedFont>
    <p:embeddedFont>
      <p:font typeface="Inter Bold" panose="020B0604020202020204" charset="0"/>
      <p:regular r:id="rId15"/>
    </p:embeddedFont>
  </p:embeddedFontLst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0383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8BA873-A991-C193-8DBE-CF7CF419E0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DBF9E45-151A-13D6-3E44-001BD8C095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16E0A6-2281-838C-36ED-1CC0E68DF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D8D0-01D0-47DF-8694-0852C4C7F1D8}" type="datetimeFigureOut">
              <a:rPr lang="es-CL" smtClean="0"/>
              <a:t>04-09-2026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3B6E91-0970-B75D-4B21-40DBB5457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A6F1C3-28FA-6C07-FF5E-5B9474F0D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6AE8B-355A-433D-95ED-482A5F02B1B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6889112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0E976F-7E69-C032-0C7E-8290D0363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A1DE9F-5FBC-9C57-7448-DC0AA259D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00D4D5-3A08-88F9-5AEF-2C8C1F864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D8D0-01D0-47DF-8694-0852C4C7F1D8}" type="datetimeFigureOut">
              <a:rPr lang="es-CL" smtClean="0"/>
              <a:t>04-09-2026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14F3A4-D815-3D36-52E1-CB413D5C3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A5F82B-97C2-A3E7-285E-67092F847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6AE8B-355A-433D-95ED-482A5F02B1B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9292786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BC81D4-7445-DBF0-F2E6-2E515259B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703C3D4-D7F8-74B3-D5BE-65EAEE425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312849-1F19-931D-DB3A-9F589A0DD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D8D0-01D0-47DF-8694-0852C4C7F1D8}" type="datetimeFigureOut">
              <a:rPr lang="es-CL" smtClean="0"/>
              <a:t>04-09-2026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5B0675-5F33-50D4-8E7E-D544EC84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E2D662-0C8B-EC6A-508B-D5B14C199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6AE8B-355A-433D-95ED-482A5F02B1B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0059438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A7A38E-3890-A726-1C2D-AF946365B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B6549E-EF7F-B9C8-DC27-17825F35BC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4F3ECCC-D90A-3E86-8944-6F2608CD2E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AAAF4EE-1559-DE10-8CA4-3061CCF8A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D8D0-01D0-47DF-8694-0852C4C7F1D8}" type="datetimeFigureOut">
              <a:rPr lang="es-CL" smtClean="0"/>
              <a:t>04-09-2026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EDF68B-5C4C-BCB6-156E-B4E1D8429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0E72C67-5DE6-2172-1235-4EC0E3FD2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6AE8B-355A-433D-95ED-482A5F02B1B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3353578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9A67F3-0543-0A8A-B15B-11B5C4995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D828E38-DA42-66C7-ADFE-F91918C0D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FC30DAD-F345-8576-48D3-6FBB93F47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365CE8A-85BC-6D45-FDA6-44BAE6E00D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F56BD0C-E9E0-CBA7-614F-E4BB6432C8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D7727C7-3669-B5E2-E3CB-F17CDA9FF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D8D0-01D0-47DF-8694-0852C4C7F1D8}" type="datetimeFigureOut">
              <a:rPr lang="es-CL" smtClean="0"/>
              <a:t>04-09-2026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626D109-137D-28F6-48B6-4A770757F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CD7C1DB-2C69-AB7F-81EC-9D3CA7A17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6AE8B-355A-433D-95ED-482A5F02B1B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121002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2A3FE4-7628-3E4C-917F-D4EABDA2D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0DA93A3-D903-7083-635C-4CD264221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D8D0-01D0-47DF-8694-0852C4C7F1D8}" type="datetimeFigureOut">
              <a:rPr lang="es-CL" smtClean="0"/>
              <a:t>04-09-2026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3B27914-B38B-D53D-FD3B-DF8C7CE33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6696099-AF78-EE40-84A9-6854BF9C4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6AE8B-355A-433D-95ED-482A5F02B1B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0908263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1ADEAF8-0B3E-58B9-3AD7-0A8E01E90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D8D0-01D0-47DF-8694-0852C4C7F1D8}" type="datetimeFigureOut">
              <a:rPr lang="es-CL" smtClean="0"/>
              <a:t>04-09-2026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9555953-375F-6002-842C-961EB7720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0A4EEF-1097-A770-EDA4-DF187E094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6AE8B-355A-433D-95ED-482A5F02B1B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731626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4362CC-0BDA-AA8D-3A8E-A366304C5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5B6EDB-2A0A-B0EC-1EB2-462E9C5CE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8C8BE98-3D30-C4D6-7787-7EF8EC8880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AE0AA29-8FF7-8280-0F2E-874FF9D20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D8D0-01D0-47DF-8694-0852C4C7F1D8}" type="datetimeFigureOut">
              <a:rPr lang="es-CL" smtClean="0"/>
              <a:t>04-09-2026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D40BDE1-693B-A257-F537-6B7B3E477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FA469DF-693A-1752-EEB6-673226681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6AE8B-355A-433D-95ED-482A5F02B1B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7670814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D79453-5C2E-3331-E48B-E0627D0B8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1321EFD-6892-378F-0237-A5F440F2A3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526E9EB-C13E-9450-9C94-F84A16A050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5679580-14AA-B83A-3B05-2ABBDFF0E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D8D0-01D0-47DF-8694-0852C4C7F1D8}" type="datetimeFigureOut">
              <a:rPr lang="es-CL" smtClean="0"/>
              <a:t>04-09-2026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81D26D6-E055-DCEF-7F06-3187A066F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98DE39C-CD62-5B6F-53AE-D8541B593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6AE8B-355A-433D-95ED-482A5F02B1B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6807115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A59352-5EDF-FCCB-FEAA-4CBCE2273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A0D1D0C-26F9-4060-ECCD-ACF2E9FAD8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9390B6-357F-DD33-83FC-AA8826CC6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D8D0-01D0-47DF-8694-0852C4C7F1D8}" type="datetimeFigureOut">
              <a:rPr lang="es-CL" smtClean="0"/>
              <a:t>04-09-2026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D5F19F-E454-6651-9742-BDD69BECD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3DA545-2EB9-95C1-020F-2DB78ECDE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6AE8B-355A-433D-95ED-482A5F02B1B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242555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765B49E-0F77-AF08-F5A7-E312837CB0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31D34BC-AC34-90A3-0C9E-68361685D9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9BF8DE-4E6D-8404-2BF7-C0FED750E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D8D0-01D0-47DF-8694-0852C4C7F1D8}" type="datetimeFigureOut">
              <a:rPr lang="es-CL" smtClean="0"/>
              <a:t>04-09-2026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FFC24E-1EAD-E48F-3F19-3520BD9C4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63671D-FDCD-0108-758F-7ECCF14FD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6AE8B-355A-433D-95ED-482A5F02B1B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0575008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2635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2F297C2-E4CB-7EFC-1C03-522EDCDAB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C0137E7-B388-01FA-72DF-7C5A6B7D8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901171-E664-3E6E-BDC8-0006F76D0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93D8D0-01D0-47DF-8694-0852C4C7F1D8}" type="datetimeFigureOut">
              <a:rPr lang="es-CL" smtClean="0"/>
              <a:t>04-09-2026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0A5BAC-9D25-4F89-D497-597379B6CD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EA767E-10C0-C13D-C292-9D5DFFB2C6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66AE8B-355A-433D-95ED-482A5F02B1B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83329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8262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kern="0" spc="-9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CAP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247404"/>
            <a:ext cx="10868745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450" b="1" kern="0" spc="-13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Sistema Inteligente de Control de Acceso Vehicular y Peatonal para Condominios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661475" y="3921820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i="1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Your Access, Protect Your Community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4413746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661475" y="4660106"/>
            <a:ext cx="10868745" cy="715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 APT · Ingeniería en Informática · Duoc UC, Sede Plaza Norte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Integrantes:</a:t>
            </a: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César Escamilla · Ernesto Neculan · Carlos Ycochea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476945"/>
            <a:ext cx="6296860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kern="0" spc="-8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Problemática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61475" y="1089620"/>
            <a:ext cx="6296860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procesos tradicionales de control de acceso en condominios presentan múltiples debilidades que dificultan la gestión, el registro y la trazabilidad de los eventos de entrada y salida.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61475" y="1633835"/>
            <a:ext cx="6296860" cy="992088"/>
          </a:xfrm>
          <a:prstGeom prst="roundRect">
            <a:avLst>
              <a:gd name="adj" fmla="val 5908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807323" y="1779687"/>
            <a:ext cx="600516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 Manual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07323" y="2068314"/>
            <a:ext cx="6005164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Dependencia de registros en papel y comunicación informal entre residentes y personal de conserjería.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61475" y="2743597"/>
            <a:ext cx="6296860" cy="786209"/>
          </a:xfrm>
          <a:prstGeom prst="roundRect">
            <a:avLst>
              <a:gd name="adj" fmla="val 745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807323" y="2889448"/>
            <a:ext cx="600516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Registros Dispersos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07323" y="3178076"/>
            <a:ext cx="6005164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centralización de información sobre residentes, vehículos y eventos de acceso.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61475" y="3647480"/>
            <a:ext cx="6296860" cy="786209"/>
          </a:xfrm>
          <a:prstGeom prst="roundRect">
            <a:avLst>
              <a:gd name="adj" fmla="val 745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807323" y="3793331"/>
            <a:ext cx="600516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Sin Trazabilidad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07323" y="4081959"/>
            <a:ext cx="6005164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Dificultad para verificar visitantes y consultar el historial de entradas y salidas.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61475" y="4551363"/>
            <a:ext cx="6296860" cy="992088"/>
          </a:xfrm>
          <a:prstGeom prst="roundRect">
            <a:avLst>
              <a:gd name="adj" fmla="val 5908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807323" y="4697214"/>
            <a:ext cx="600516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Falta de Integración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07323" y="4985841"/>
            <a:ext cx="6005164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Ausencia de mecanismos digitales que conecten la gestión informática con los dispositivos físicos de apertura.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61475" y="5675908"/>
            <a:ext cx="6296860" cy="705048"/>
          </a:xfrm>
          <a:prstGeom prst="roundRect">
            <a:avLst>
              <a:gd name="adj" fmla="val 8313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973" y="5845969"/>
            <a:ext cx="174422" cy="13950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114893" y="5828407"/>
            <a:ext cx="5703943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b="1" kern="0" spc="-2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Objetivo:</a:t>
            </a:r>
            <a:r>
              <a:rPr lang="en-US" sz="1050" kern="0" spc="-22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Desarrollar un prototipo que centralice, valide y registre procesos de acceso mediante tecnologías web, OCR de patentes y control con ESP32.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6" y="351271"/>
            <a:ext cx="1913774" cy="127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kern="0" spc="-4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¿Qué es CAP?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61475" y="674098"/>
            <a:ext cx="8883741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 es un prototipo de plataforma web que centraliza el control de accesos vehiculares y peatonales en condominios. Integra software, base de datos y hardware </a:t>
            </a:r>
            <a:br>
              <a:rPr lang="en-US" sz="9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9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(ESP32) en un flujo completo de autorización, validación y registro.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941487"/>
            <a:ext cx="165294" cy="1652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1158379"/>
            <a:ext cx="3588454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Residentes y Viviendas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61475" y="1312366"/>
            <a:ext cx="312675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Gestión de usuarios, viviendas asociadas y vehículos registrados.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01521" y="941487"/>
            <a:ext cx="165294" cy="1652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01521" y="1158379"/>
            <a:ext cx="3588553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Visitas y QR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301522" y="1312366"/>
            <a:ext cx="3274936" cy="129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Invitaciones digitales con QR de uso único y vigencia configurable.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41667" y="941487"/>
            <a:ext cx="165294" cy="16529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41667" y="1158379"/>
            <a:ext cx="3588553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4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Reconocimiento</a:t>
            </a:r>
            <a:r>
              <a:rPr lang="en-US" sz="80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de Patentes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7941667" y="1312366"/>
            <a:ext cx="3588553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Captura de imagen y OCR para identificar vehículos registrados.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1494135"/>
            <a:ext cx="165294" cy="16529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1475" y="1711027"/>
            <a:ext cx="3588454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661475" y="1865015"/>
            <a:ext cx="3360019" cy="93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Supervisión de accesos, eventos, rechazos y estadísticas en tiempo real.</a:t>
            </a:r>
            <a:endParaRPr lang="en-US" sz="9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3995" y="1483767"/>
            <a:ext cx="165294" cy="16529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63995" y="1711027"/>
            <a:ext cx="3588553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ESP32 + Maqueta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4963995" y="1865015"/>
            <a:ext cx="3274937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físico de apertura vehicular y peatonal mediante servomotores.</a:t>
            </a:r>
            <a:endParaRPr lang="en-US" sz="9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221" y="2010569"/>
            <a:ext cx="10779153" cy="4648299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431583" y="5777376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Enviar a ESP32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1431583" y="4701370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Consultar BD</a:t>
            </a:r>
            <a:endParaRPr lang="en-US" sz="1900" dirty="0"/>
          </a:p>
        </p:txBody>
      </p:sp>
      <p:sp>
        <p:nvSpPr>
          <p:cNvPr id="22" name="Text 14"/>
          <p:cNvSpPr/>
          <p:nvPr/>
        </p:nvSpPr>
        <p:spPr>
          <a:xfrm>
            <a:off x="1431583" y="3636233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Validar QR/Patente</a:t>
            </a:r>
            <a:endParaRPr lang="en-US" sz="1900" dirty="0"/>
          </a:p>
        </p:txBody>
      </p:sp>
      <p:sp>
        <p:nvSpPr>
          <p:cNvPr id="23" name="Text 15"/>
          <p:cNvSpPr/>
          <p:nvPr/>
        </p:nvSpPr>
        <p:spPr>
          <a:xfrm>
            <a:off x="1431583" y="2560227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Crear Invitación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8705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kern="0" spc="-9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Usuarios y Funcionalidades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1951831"/>
            <a:ext cx="5470785" cy="3719016"/>
          </a:xfrm>
          <a:prstGeom prst="roundRect">
            <a:avLst>
              <a:gd name="adj" fmla="val 3202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707710" y="2117130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9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Residente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2540893"/>
            <a:ext cx="5140196" cy="155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Iniciar sesión y gestionar perfil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Registrar vehículos asociados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Crear invitaciones con vigencia configurable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Generar y compartir códigos QR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Consultar historial de accesos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3904" y="2117130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Administrador / Guardia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03904" y="2540893"/>
            <a:ext cx="5232666" cy="155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Gestionar residentes y viviendas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Visualizar accesos, rechazos y patentes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Revisar vehículos e invitaciones activas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Consultar evidencias fotográficas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Supervisar estadísticas y estado del ESP32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3904" y="4322663"/>
            <a:ext cx="5232666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6303904" y="4569023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Visitante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03904" y="4992787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Usuario indirecto. Presenta el QR proporcionado por el residente para acceder. No requiere cuenta propia.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Sistema de Invitaciones y Códigos QR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795933"/>
            <a:ext cx="10868745" cy="48909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98699" y="1057857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Crear visita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2298699" y="1435393"/>
            <a:ext cx="190200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Residente registra la invitación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179801" y="4726098"/>
            <a:ext cx="191245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Generar QR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179801" y="5103634"/>
            <a:ext cx="191245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crea un código único y con vigencia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040002" y="1021279"/>
            <a:ext cx="1902003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Presentar QR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040002" y="1398815"/>
            <a:ext cx="1902003" cy="352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Visitante muestra el código al ingreso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921104" y="4726098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Validación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7921104" y="5103634"/>
            <a:ext cx="190200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 verifica vigencia y estado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98593" y="5358015"/>
            <a:ext cx="2060632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2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Características del QR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98593" y="5622429"/>
            <a:ext cx="3210729" cy="439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900" b="1" kern="0" spc="-1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Único:</a:t>
            </a:r>
            <a:r>
              <a:rPr lang="en-US" sz="9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Identificador asociado a una invitación específica</a:t>
            </a:r>
            <a:endParaRPr lang="en-US" sz="900" dirty="0"/>
          </a:p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900" b="1" kern="0" spc="-1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 solo uso:</a:t>
            </a:r>
            <a:r>
              <a:rPr lang="en-US" sz="9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 invalida automáticamente tras ser utilizado</a:t>
            </a:r>
            <a:endParaRPr lang="en-US" sz="900" dirty="0"/>
          </a:p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900" b="1" kern="0" spc="-1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Vigencia configurable:</a:t>
            </a:r>
            <a:r>
              <a:rPr lang="en-US" sz="9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Fecha y hora de expiración definidas por el residente</a:t>
            </a:r>
            <a:endParaRPr lang="en-US" sz="900" dirty="0"/>
          </a:p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900" b="1" kern="0" spc="-1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Residente autorizante:</a:t>
            </a:r>
            <a:r>
              <a:rPr lang="en-US" sz="9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Vinculado al usuario que genera la invitación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203001" y="5774630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kern="0" spc="-2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Estados de la Invitación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203001" y="5950248"/>
            <a:ext cx="5333569" cy="882452"/>
          </a:xfrm>
          <a:prstGeom prst="roundRect">
            <a:avLst>
              <a:gd name="adj" fmla="val 393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3"/>
          <p:cNvSpPr/>
          <p:nvPr/>
        </p:nvSpPr>
        <p:spPr>
          <a:xfrm>
            <a:off x="6209351" y="5956598"/>
            <a:ext cx="2660385" cy="434876"/>
          </a:xfrm>
          <a:custGeom>
            <a:avLst/>
            <a:gdLst/>
            <a:ahLst/>
            <a:cxnLst/>
            <a:rect l="l" t="t" r="r" b="b"/>
            <a:pathLst>
              <a:path w="2660385" h="434876">
                <a:moveTo>
                  <a:pt x="28943" y="0"/>
                </a:moveTo>
                <a:lnTo>
                  <a:pt x="2660385" y="0"/>
                </a:lnTo>
                <a:lnTo>
                  <a:pt x="2660385" y="434876"/>
                </a:lnTo>
                <a:lnTo>
                  <a:pt x="0" y="434876"/>
                </a:lnTo>
                <a:lnTo>
                  <a:pt x="0" y="28944"/>
                </a:lnTo>
                <a:arcTo wR="28943" hR="28944" stAng="10800000" swAng="5400000"/>
                <a:close/>
              </a:path>
            </a:pathLst>
          </a:custGeom>
          <a:solidFill>
            <a:srgbClr val="DADBF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4"/>
          <p:cNvSpPr/>
          <p:nvPr/>
        </p:nvSpPr>
        <p:spPr>
          <a:xfrm>
            <a:off x="6291998" y="6039247"/>
            <a:ext cx="2495091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Pendiente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291998" y="6209705"/>
            <a:ext cx="2495091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Disponible para usar</a:t>
            </a:r>
            <a:endParaRPr lang="en-US" sz="650" dirty="0"/>
          </a:p>
        </p:txBody>
      </p:sp>
      <p:sp>
        <p:nvSpPr>
          <p:cNvPr id="19" name="Shape 16"/>
          <p:cNvSpPr/>
          <p:nvPr/>
        </p:nvSpPr>
        <p:spPr>
          <a:xfrm>
            <a:off x="8869736" y="5956598"/>
            <a:ext cx="2660484" cy="434876"/>
          </a:xfrm>
          <a:custGeom>
            <a:avLst/>
            <a:gdLst/>
            <a:ahLst/>
            <a:cxnLst/>
            <a:rect l="l" t="t" r="r" b="b"/>
            <a:pathLst>
              <a:path w="2660484" h="434876">
                <a:moveTo>
                  <a:pt x="0" y="0"/>
                </a:moveTo>
                <a:lnTo>
                  <a:pt x="2631541" y="0"/>
                </a:lnTo>
                <a:arcTo wR="28943" hR="28944" stAng="16200000" swAng="5400000"/>
                <a:lnTo>
                  <a:pt x="2660484" y="434876"/>
                </a:lnTo>
                <a:lnTo>
                  <a:pt x="0" y="434876"/>
                </a:lnTo>
                <a:lnTo>
                  <a:pt x="0" y="0"/>
                </a:lnTo>
                <a:close/>
              </a:path>
            </a:pathLst>
          </a:custGeom>
          <a:solidFill>
            <a:srgbClr val="DADBF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Shape 17"/>
          <p:cNvSpPr/>
          <p:nvPr/>
        </p:nvSpPr>
        <p:spPr>
          <a:xfrm>
            <a:off x="8869736" y="5956598"/>
            <a:ext cx="12700" cy="434876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8"/>
          <p:cNvSpPr/>
          <p:nvPr/>
        </p:nvSpPr>
        <p:spPr>
          <a:xfrm>
            <a:off x="8952383" y="6039247"/>
            <a:ext cx="2495190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Utilizada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952383" y="6209705"/>
            <a:ext cx="2495190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QR ya consumido</a:t>
            </a:r>
            <a:endParaRPr lang="en-US" sz="650" dirty="0"/>
          </a:p>
        </p:txBody>
      </p:sp>
      <p:sp>
        <p:nvSpPr>
          <p:cNvPr id="23" name="Shape 20"/>
          <p:cNvSpPr/>
          <p:nvPr/>
        </p:nvSpPr>
        <p:spPr>
          <a:xfrm>
            <a:off x="6209351" y="6391473"/>
            <a:ext cx="2660385" cy="434876"/>
          </a:xfrm>
          <a:custGeom>
            <a:avLst/>
            <a:gdLst/>
            <a:ahLst/>
            <a:cxnLst/>
            <a:rect l="l" t="t" r="r" b="b"/>
            <a:pathLst>
              <a:path w="2660385" h="434876">
                <a:moveTo>
                  <a:pt x="0" y="0"/>
                </a:moveTo>
                <a:lnTo>
                  <a:pt x="2660385" y="0"/>
                </a:lnTo>
                <a:lnTo>
                  <a:pt x="2660385" y="434876"/>
                </a:lnTo>
                <a:lnTo>
                  <a:pt x="28943" y="434876"/>
                </a:lnTo>
                <a:arcTo wR="28943" hR="28944" stAng="5400000" swAng="5400000"/>
                <a:lnTo>
                  <a:pt x="0" y="0"/>
                </a:lnTo>
                <a:close/>
              </a:path>
            </a:pathLst>
          </a:custGeom>
          <a:solidFill>
            <a:srgbClr val="DADBF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Shape 21"/>
          <p:cNvSpPr/>
          <p:nvPr/>
        </p:nvSpPr>
        <p:spPr>
          <a:xfrm>
            <a:off x="6209351" y="6391473"/>
            <a:ext cx="2660385" cy="1270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2"/>
          <p:cNvSpPr/>
          <p:nvPr/>
        </p:nvSpPr>
        <p:spPr>
          <a:xfrm>
            <a:off x="6291998" y="6474123"/>
            <a:ext cx="2495091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Expirada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291998" y="6644580"/>
            <a:ext cx="2495091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Superó vigencia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8869736" y="6391473"/>
            <a:ext cx="2660484" cy="434876"/>
          </a:xfrm>
          <a:custGeom>
            <a:avLst/>
            <a:gdLst/>
            <a:ahLst/>
            <a:cxnLst/>
            <a:rect l="l" t="t" r="r" b="b"/>
            <a:pathLst>
              <a:path w="2660484" h="434876">
                <a:moveTo>
                  <a:pt x="0" y="0"/>
                </a:moveTo>
                <a:lnTo>
                  <a:pt x="2660484" y="0"/>
                </a:lnTo>
                <a:lnTo>
                  <a:pt x="2660484" y="405932"/>
                </a:lnTo>
                <a:arcTo wR="28943" hR="28944" stAng="0" swAng="5400000"/>
                <a:lnTo>
                  <a:pt x="0" y="434876"/>
                </a:lnTo>
                <a:lnTo>
                  <a:pt x="0" y="0"/>
                </a:lnTo>
                <a:close/>
              </a:path>
            </a:pathLst>
          </a:custGeom>
          <a:solidFill>
            <a:srgbClr val="DADBF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Shape 25"/>
          <p:cNvSpPr/>
          <p:nvPr/>
        </p:nvSpPr>
        <p:spPr>
          <a:xfrm>
            <a:off x="8869736" y="6391473"/>
            <a:ext cx="12700" cy="434876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9" name="Shape 26"/>
          <p:cNvSpPr/>
          <p:nvPr/>
        </p:nvSpPr>
        <p:spPr>
          <a:xfrm>
            <a:off x="8869736" y="6391473"/>
            <a:ext cx="2660484" cy="1270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7"/>
          <p:cNvSpPr/>
          <p:nvPr/>
        </p:nvSpPr>
        <p:spPr>
          <a:xfrm>
            <a:off x="8952383" y="6474123"/>
            <a:ext cx="2495190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Cancelada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8952383" y="6644580"/>
            <a:ext cx="2495190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Anulada por residente</a:t>
            </a:r>
            <a:endParaRPr lang="en-US" sz="650" dirty="0"/>
          </a:p>
        </p:txBody>
      </p:sp>
      <p:sp>
        <p:nvSpPr>
          <p:cNvPr id="32" name="Text 29"/>
          <p:cNvSpPr/>
          <p:nvPr/>
        </p:nvSpPr>
        <p:spPr>
          <a:xfrm>
            <a:off x="6203001" y="6879134"/>
            <a:ext cx="594315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QR </a:t>
            </a:r>
            <a:r>
              <a:rPr lang="en-US" sz="650" b="1" kern="0" spc="-1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utilizado, expirado o cancelado</a:t>
            </a:r>
            <a:r>
              <a:rPr lang="en-US" sz="65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volverá a permitir acceso bajo ninguna circunstancia.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1572"/>
            <a:ext cx="10868745" cy="411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kern="0" spc="-7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 de Acceso Vehicular por Patente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61475" y="1133475"/>
            <a:ext cx="10868745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de las funcionalidades diferenciadoras de CAP: el encargado captura la patente del vehículo mediante la cámara del teléfono y el sistema la procesa automáticamente para validar el acceso.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30363"/>
            <a:ext cx="658895" cy="7907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25341" y="1762125"/>
            <a:ext cx="10104879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Captura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425341" y="2031008"/>
            <a:ext cx="10104879" cy="189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encargado fotografía la patente con el teléfono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421136"/>
            <a:ext cx="658895" cy="79077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25341" y="2552898"/>
            <a:ext cx="10104879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OCR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425341" y="2821781"/>
            <a:ext cx="10104879" cy="189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Reconocimiento de caracteres y obtención de la patente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211909"/>
            <a:ext cx="658895" cy="79077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25341" y="3343672"/>
            <a:ext cx="10104879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Consulta BD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1425341" y="3612555"/>
            <a:ext cx="10104879" cy="189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verifica si la patente está registrada y se obtiene marca, modelo y residente asociado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4002683"/>
            <a:ext cx="658895" cy="79077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25341" y="4134445"/>
            <a:ext cx="10104879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Validación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1425341" y="4403328"/>
            <a:ext cx="10104879" cy="189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backend determina si autoriza el acceso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4793456"/>
            <a:ext cx="658895" cy="79077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25341" y="4925219"/>
            <a:ext cx="10104879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Registro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1425341" y="5194102"/>
            <a:ext cx="10104879" cy="189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almacena el evento con evidencia fotográfica en el dashboard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661475" y="5702300"/>
            <a:ext cx="10868745" cy="644128"/>
          </a:xfrm>
          <a:prstGeom prst="roundRect">
            <a:avLst>
              <a:gd name="adj" fmla="val 8594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234" y="5851922"/>
            <a:ext cx="164699" cy="13176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89692" y="5840214"/>
            <a:ext cx="10308769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kern="0" spc="-2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Mecanismo alternativo:</a:t>
            </a:r>
            <a:r>
              <a:rPr lang="en-US" sz="1000" kern="0" spc="-2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 el reconocimiento OCR no es satisfactorio por condiciones de iluminación, ángulo o calidad de imagen, el visitante puede presentar su código QR para validar el acceso.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2345"/>
            <a:ext cx="10868745" cy="379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50" b="1" kern="0" spc="-72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Controlador</a:t>
            </a:r>
            <a:r>
              <a:rPr lang="en-US" sz="2350" b="1" kern="0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ESP32 + Maqueta Física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574065" y="1015603"/>
            <a:ext cx="5461062" cy="5340052"/>
          </a:xfrm>
          <a:prstGeom prst="roundRect">
            <a:avLst>
              <a:gd name="adj" fmla="val 1638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695506" y="1104801"/>
            <a:ext cx="5218180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kern="0" spc="-3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Concepto Clave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95506" y="1383705"/>
            <a:ext cx="5218180" cy="58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spcAft>
                <a:spcPts val="600"/>
              </a:spcAft>
              <a:buNone/>
            </a:pPr>
            <a:r>
              <a:rPr lang="en-US" sz="950" b="1" kern="0" spc="-19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backend decide y el ESP32 ejecuta.</a:t>
            </a: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950" kern="0" spc="-1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lógica de autorización reside completamente en el backend. El ESP32 actúa únicamente como controlador físico, recibiendo instrucciones y activando los mecanismos de apertura.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95506" y="2100064"/>
            <a:ext cx="5218180" cy="1270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695506" y="2243435"/>
            <a:ext cx="5218180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kern="0" spc="-3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Componentes Físicos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95506" y="2522339"/>
            <a:ext cx="5218180" cy="966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6000"/>
              </a:lnSpc>
              <a:buSzPct val="100000"/>
              <a:buChar char="•"/>
            </a:pPr>
            <a:r>
              <a:rPr lang="en-US" sz="1100" kern="0" spc="-1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ESP32 (controlador principal)</a:t>
            </a:r>
            <a:endParaRPr lang="en-US" sz="1100" dirty="0"/>
          </a:p>
          <a:p>
            <a:pPr marL="193040" indent="-193040" algn="l">
              <a:lnSpc>
                <a:spcPct val="116000"/>
              </a:lnSpc>
              <a:buSzPct val="100000"/>
              <a:buChar char="•"/>
            </a:pPr>
            <a:r>
              <a:rPr lang="en-US" sz="1100" kern="0" spc="-1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Servomotor de acceso vehicular</a:t>
            </a:r>
            <a:endParaRPr lang="en-US" sz="1100" dirty="0"/>
          </a:p>
          <a:p>
            <a:pPr marL="193040" indent="-193040" algn="l">
              <a:lnSpc>
                <a:spcPct val="116000"/>
              </a:lnSpc>
              <a:buSzPct val="100000"/>
              <a:buChar char="•"/>
            </a:pPr>
            <a:r>
              <a:rPr lang="en-US" sz="1100" kern="0" spc="-1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Servomotor de acceso peatonal</a:t>
            </a:r>
            <a:endParaRPr lang="en-US" sz="1100" dirty="0"/>
          </a:p>
          <a:p>
            <a:pPr marL="193040" indent="-193040" algn="l">
              <a:lnSpc>
                <a:spcPct val="116000"/>
              </a:lnSpc>
              <a:buSzPct val="100000"/>
              <a:buChar char="•"/>
            </a:pPr>
            <a:r>
              <a:rPr lang="en-US" sz="1100" kern="0" spc="-1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Botones físicos de salida</a:t>
            </a:r>
            <a:endParaRPr lang="en-US" sz="1100" dirty="0"/>
          </a:p>
          <a:p>
            <a:pPr marL="193040" indent="-193040" algn="l">
              <a:lnSpc>
                <a:spcPct val="116000"/>
              </a:lnSpc>
              <a:buSzPct val="100000"/>
              <a:buChar char="•"/>
            </a:pPr>
            <a:r>
              <a:rPr lang="en-US" sz="1100" kern="0" spc="-1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Protoboard y componentes básicos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50327" y="1104801"/>
            <a:ext cx="5286243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kern="0" spc="-3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Flujo de Entrada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50327" y="1394817"/>
            <a:ext cx="242881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0" spc="-29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50327" y="1588492"/>
            <a:ext cx="5286243" cy="1270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6250327" y="1674614"/>
            <a:ext cx="5286243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valida QR o patente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50327" y="2023368"/>
            <a:ext cx="242881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0" spc="-29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50327" y="2217043"/>
            <a:ext cx="5286243" cy="1270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6250327" y="2303165"/>
            <a:ext cx="5286243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envía orden al ESP32 por red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50327" y="2651919"/>
            <a:ext cx="242881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0" spc="-29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50327" y="2845594"/>
            <a:ext cx="5286243" cy="1270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6250327" y="2931716"/>
            <a:ext cx="5286243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ESP32 activa el servomotor correspondiente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50327" y="3280470"/>
            <a:ext cx="242881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0" spc="-29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50327" y="3474145"/>
            <a:ext cx="5286243" cy="1270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6250327" y="3560266"/>
            <a:ext cx="5286243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registra el evento en el dashboard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50327" y="3920133"/>
            <a:ext cx="5286243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kern="0" spc="-3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Flujo de Salida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50327" y="4210149"/>
            <a:ext cx="242881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0" spc="-29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50327" y="4403824"/>
            <a:ext cx="5286243" cy="1270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6250327" y="4489946"/>
            <a:ext cx="5286243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presiona el botón físico de salida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50327" y="4838700"/>
            <a:ext cx="242881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0" spc="-29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50327" y="5032375"/>
            <a:ext cx="5286243" cy="1270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6250327" y="5118497"/>
            <a:ext cx="5286243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ESP32 detecta la acción y activa el servo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50327" y="5467251"/>
            <a:ext cx="242881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0" spc="-29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50327" y="5660926"/>
            <a:ext cx="5286243" cy="1270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6250327" y="5747048"/>
            <a:ext cx="5286243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registra el evento de salida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50327" y="6106914"/>
            <a:ext cx="5895828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salida es </a:t>
            </a:r>
            <a:r>
              <a:rPr 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bloqueada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no depende de una invitación vigente.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32520"/>
            <a:ext cx="6296860" cy="500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kern="0" spc="-9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Dashboard y Trazabilidad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5233360" y="1365945"/>
            <a:ext cx="6296860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 no es solo abrir una barrera: es una plataforma completa para administrar, supervisar y auditar todos los eventos de acceso de la comunidad residencial.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233360" y="2045097"/>
            <a:ext cx="6296860" cy="928687"/>
          </a:xfrm>
          <a:prstGeom prst="roundRect">
            <a:avLst>
              <a:gd name="adj" fmla="val 724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5399845" y="2211586"/>
            <a:ext cx="5963890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Accesos Totales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399845" y="2554982"/>
            <a:ext cx="5963890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Entradas, salidas y rechazos acumulados con filtros por fecha y tipo de evento.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233360" y="3128963"/>
            <a:ext cx="6296860" cy="928687"/>
          </a:xfrm>
          <a:prstGeom prst="roundRect">
            <a:avLst>
              <a:gd name="adj" fmla="val 724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5399845" y="3295452"/>
            <a:ext cx="5963890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Invitaciones Activas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5399845" y="3638848"/>
            <a:ext cx="5963890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Estado de todas las invitaciones vigentes, utilizadas, expiradas o canceladas.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233360" y="4212828"/>
            <a:ext cx="6296860" cy="928687"/>
          </a:xfrm>
          <a:prstGeom prst="roundRect">
            <a:avLst>
              <a:gd name="adj" fmla="val 724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5399845" y="4379317"/>
            <a:ext cx="5963890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Patentes y Vehículos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399845" y="4722713"/>
            <a:ext cx="5963890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Patente detectada, marca, modelo, residente asociado y fecha/hora del evento.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233360" y="5296694"/>
            <a:ext cx="6296860" cy="928687"/>
          </a:xfrm>
          <a:prstGeom prst="roundRect">
            <a:avLst>
              <a:gd name="adj" fmla="val 724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5399845" y="5463183"/>
            <a:ext cx="5963890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Evidencia y Estado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5399845" y="5806579"/>
            <a:ext cx="5963890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Evidencia fotográfica asociada a eventos y estado en línea del dispositivo ESP32.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742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kern="0" spc="-9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Arquitectura, Tecnologías y Seguridad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777504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Arquitectura por Capas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222004"/>
            <a:ext cx="2533686" cy="15863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22017" y="2406352"/>
            <a:ext cx="208880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22017" y="2830116"/>
            <a:ext cx="208880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Angular · Interfaz responsive para residentes y administradores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60455" y="2222004"/>
            <a:ext cx="2533686" cy="158630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20997" y="2406352"/>
            <a:ext cx="208880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620997" y="2830116"/>
            <a:ext cx="208880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/ Python · API REST · Lógica de autorización y comunicación con ESP32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973612"/>
            <a:ext cx="2533686" cy="185092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22017" y="4157960"/>
            <a:ext cx="208880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Datos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922017" y="4581723"/>
            <a:ext cx="2088800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de datos: residentes, viviendas, vehículos, invitaciones, accesos y evidencias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60455" y="3973612"/>
            <a:ext cx="2533686" cy="185092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620997" y="4157960"/>
            <a:ext cx="208880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9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Controlador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3620997" y="4581723"/>
            <a:ext cx="208880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ESP32 + servomotores + botones físicos de salida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184844" y="1612205"/>
            <a:ext cx="5470785" cy="4398367"/>
          </a:xfrm>
          <a:prstGeom prst="roundRect">
            <a:avLst>
              <a:gd name="adj" fmla="val 2707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1"/>
          <p:cNvSpPr/>
          <p:nvPr/>
        </p:nvSpPr>
        <p:spPr>
          <a:xfrm>
            <a:off x="6350139" y="1777504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9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Seguridad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6350139" y="2201267"/>
            <a:ext cx="5140196" cy="18769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Autenticación de usuarios con control por roles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Validación de permisos en backend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QR único, de un solo uso y con expiración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Rechazo automático de QR inválidos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histórico y auditoría de eventos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Separación de responsabilidades frontend/backend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4744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kern="0" spc="-9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Alcance y Resultado Esperado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1712218"/>
            <a:ext cx="5470785" cy="3110905"/>
          </a:xfrm>
          <a:prstGeom prst="roundRect">
            <a:avLst>
              <a:gd name="adj" fmla="val 3828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707710" y="1877516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9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Solución Integral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2301280"/>
            <a:ext cx="5140196" cy="2463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Gestión de residentes, viviendas y vehículos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 de invitaciones con códigos QR de un solo uso y expiración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Reconocimiento automático de patentes vehiculares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y trazabilidad completa de accesos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Captura de evidencias (fotos/videos)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administrativo con estadísticas y auditoría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Integración IoT para ejecución física de accesos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3904" y="1877516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Arquitectura Escalable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03904" y="2301280"/>
            <a:ext cx="5232666" cy="155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Arquitectura modular y escalable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 de incorporar nuevas funcionalidades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Soporte para </a:t>
            </a:r>
            <a:r>
              <a:rPr lang="en-US" sz="1300" kern="0" spc="-26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nuevos</a:t>
            </a: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dispositions </a:t>
            </a:r>
            <a:r>
              <a:rPr lang="en-US" sz="1300" kern="0" spc="-26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controladores</a:t>
            </a: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Mecanismos</a:t>
            </a: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validación extensibles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Preparado para futuras etapas según necesidades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09516" y="5195193"/>
            <a:ext cx="1062070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kern="0" spc="-2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Resultado Esperado:</a:t>
            </a:r>
            <a:r>
              <a:rPr lang="en-US" sz="130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Centralizar y digitalizar completamente el proceso de control de acceso en comunidades residenciales, mejorando la trazabilidad, gestión de autorizaciones, supervisión de eventos en tiempo real y disponibilidad de información para la administración.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1475" y="5009158"/>
            <a:ext cx="19050" cy="901303"/>
          </a:xfrm>
          <a:prstGeom prst="roundRect">
            <a:avLst>
              <a:gd name="adj" fmla="val 4999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0077"/>
            <a:ext cx="1086874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CAP: Control Inteligente de Accesos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21" y="855365"/>
            <a:ext cx="10779153" cy="4648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1583" y="4622173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Registro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431583" y="3546166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Acceso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31583" y="2481029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Validación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1405023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Autorización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61475" y="5562501"/>
            <a:ext cx="10868745" cy="262037"/>
          </a:xfrm>
          <a:prstGeom prst="roundRect">
            <a:avLst>
              <a:gd name="adj" fmla="val 14912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441" y="5639197"/>
            <a:ext cx="116281" cy="929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3688" y="5638006"/>
            <a:ext cx="11083152" cy="116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kern="0" spc="-1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solución inteligente para transformar el control de acceso en un proceso seguro, trazable y centralizado.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356682" y="5883374"/>
            <a:ext cx="11478330" cy="92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5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Your Access, Protect Your Community</a:t>
            </a:r>
            <a:endParaRPr lang="en-US" sz="550" dirty="0"/>
          </a:p>
        </p:txBody>
      </p:sp>
      <p:sp>
        <p:nvSpPr>
          <p:cNvPr id="12" name="Shape 8"/>
          <p:cNvSpPr/>
          <p:nvPr/>
        </p:nvSpPr>
        <p:spPr>
          <a:xfrm>
            <a:off x="661475" y="6058396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9"/>
          <p:cNvSpPr/>
          <p:nvPr/>
        </p:nvSpPr>
        <p:spPr>
          <a:xfrm>
            <a:off x="661475" y="6153150"/>
            <a:ext cx="10868745" cy="244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spcAft>
                <a:spcPts val="450"/>
              </a:spcAft>
              <a:buNone/>
            </a:pP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1100</Words>
  <Application>Microsoft Office PowerPoint</Application>
  <PresentationFormat>Panorámica</PresentationFormat>
  <Paragraphs>172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Inter Light</vt:lpstr>
      <vt:lpstr>Aptos</vt:lpstr>
      <vt:lpstr>Inter</vt:lpstr>
      <vt:lpstr>Inter Bold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ernesto neculan</cp:lastModifiedBy>
  <cp:revision>2</cp:revision>
  <dcterms:created xsi:type="dcterms:W3CDTF">2026-09-04T04:04:08Z</dcterms:created>
  <dcterms:modified xsi:type="dcterms:W3CDTF">2026-09-04T04:18:21Z</dcterms:modified>
</cp:coreProperties>
</file>